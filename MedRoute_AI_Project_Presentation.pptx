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5-10.svg" ContentType="image/svg+xml"/>
  <Override PartName="/ppt/media/image-5-12.svg" ContentType="image/svg+xml"/>
  <Override PartName="/ppt/media/image-5-14.svg" ContentType="image/svg+xml"/>
  <Override PartName="/ppt/media/image-5-16.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Heebo Light"/>
      <p:regular r:id="rId201314"/>
    </p:embeddedFont>
    <p:embeddedFont>
      <p:font typeface="Heebo"/>
      <p:regular r:id="rId201315"/>
    </p:embeddedFont>
    <p:embeddedFont>
      <p:font typeface="Heebo Bold"/>
      <p:regular r:id="rId201316"/>
    </p:embeddedFont>
    <p:embeddedFont>
      <p:font typeface="Montserrat"/>
      <p:regular r:id="rId201317"/>
    </p:embeddedFont>
    <p:embeddedFont>
      <p:font typeface="Montserrat Bold"/>
      <p:regular r:id="rId201318"/>
    </p:embeddedFont>
    <p:embeddedFont>
      <p:font typeface="Montserrat Light"/>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ype="http://schemas.openxmlformats.org/officeDocument/2006/relationships/font" Target="fonts/201314.fntdata"/><Relationship Id="rId201315" Type="http://schemas.openxmlformats.org/officeDocument/2006/relationships/font" Target="fonts/201315.fntdata"/><Relationship Id="rId201316" Type="http://schemas.openxmlformats.org/officeDocument/2006/relationships/font" Target="fonts/201316.fntdata"/><Relationship Id="rId201317" Type="http://schemas.openxmlformats.org/officeDocument/2006/relationships/font" Target="fonts/201317.fntdata"/><Relationship Id="rId201318" Type="http://schemas.openxmlformats.org/officeDocument/2006/relationships/font" Target="fonts/201318.fntdata"/><Relationship Id="rId201319" Type="http://schemas.openxmlformats.org/officeDocument/2006/relationships/font" Target="fonts/201319.fntdata"/><Relationship Id="rId201320" Type="http://schemas.openxmlformats.org/officeDocument/2006/relationships/font" Target="fonts/201320.fntdata"/><Relationship Id="rId201321" Type="http://schemas.openxmlformats.org/officeDocument/2006/relationships/font" Target="fonts/201321.fntdata"/><Relationship Id="rId201322" Type="http://schemas.openxmlformats.org/officeDocument/2006/relationships/font" Target="fonts/201322.fntdata"/><Relationship Id="rId201323" Type="http://schemas.openxmlformats.org/officeDocument/2006/relationships/font" Target="fonts/2013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image" Target="../media/image-1002-2.png"/><Relationship Id="rId3" Type="http://schemas.openxmlformats.org/officeDocument/2006/relationships/hyperlink" Target="https://gamma.app/?utm_source=made-with-gamma" TargetMode="External"/><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D0A2C">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image" Target="../media/image-5-13.png"/><Relationship Id="rId14" Type="http://schemas.openxmlformats.org/officeDocument/2006/relationships/image" Target="../media/image-5-14.svg"/><Relationship Id="rId15" Type="http://schemas.openxmlformats.org/officeDocument/2006/relationships/image" Target="../media/image-5-15.png"/><Relationship Id="rId16" Type="http://schemas.openxmlformats.org/officeDocument/2006/relationships/image" Target="../media/image-5-16.svg"/><Relationship Id="rId17" Type="http://schemas.openxmlformats.org/officeDocument/2006/relationships/slideLayout" Target="../slideLayouts/slideLayout2.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721644"/>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F2F0F4"/>
                </a:solidFill>
                <a:latin typeface="Montserrat" pitchFamily="34" charset="0"/>
                <a:ea typeface="Montserrat" pitchFamily="34" charset="-122"/>
                <a:cs typeface="Montserrat" pitchFamily="34" charset="-120"/>
              </a:rPr>
              <a:t>MedRoute AI: Smart Medicine Redistribution</a:t>
            </a:r>
            <a:endParaRPr lang="en-US" sz="2750" dirty="0"/>
          </a:p>
        </p:txBody>
      </p:sp>
      <p:sp>
        <p:nvSpPr>
          <p:cNvPr id="4" name="Text 1"/>
          <p:cNvSpPr/>
          <p:nvPr/>
        </p:nvSpPr>
        <p:spPr>
          <a:xfrm>
            <a:off x="496119" y="2820219"/>
            <a:ext cx="5179963" cy="226814"/>
          </a:xfrm>
          <a:prstGeom prst="rect">
            <a:avLst/>
          </a:prstGeom>
          <a:noFill/>
          <a:ln/>
        </p:spPr>
        <p:txBody>
          <a:bodyPr wrap="none" lIns="0" tIns="0" rIns="0" bIns="0" rtlCol="0" anchor="t"/>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Student: [Your Name] • College: [Your College] • Dept: CSE</a:t>
            </a:r>
            <a:endParaRPr lang="en-US" sz="1100" dirty="0"/>
          </a:p>
        </p:txBody>
      </p:sp>
      <p:sp>
        <p:nvSpPr>
          <p:cNvPr id="5" name="Shape 2"/>
          <p:cNvSpPr/>
          <p:nvPr/>
        </p:nvSpPr>
        <p:spPr>
          <a:xfrm>
            <a:off x="496119" y="3206502"/>
            <a:ext cx="1300609" cy="215354"/>
          </a:xfrm>
          <a:prstGeom prst="roundRect">
            <a:avLst>
              <a:gd name="adj" fmla="val 22119"/>
            </a:avLst>
          </a:prstGeom>
          <a:noFill/>
          <a:ln w="4763">
            <a:solidFill>
              <a:srgbClr val="481C9E"/>
            </a:solidFill>
            <a:prstDash val="solid"/>
          </a:ln>
        </p:spPr>
      </p:sp>
      <p:pic>
        <p:nvPicPr>
          <p:cNvPr id="6" name="Image 1" descr="preencoded.png">    </p:cNvPr>
          <p:cNvPicPr>
            <a:picLocks noChangeAspect="1"/>
          </p:cNvPicPr>
          <p:nvPr/>
        </p:nvPicPr>
        <p:blipFill>
          <a:blip r:embed="rId2"/>
          <a:stretch>
            <a:fillRect/>
          </a:stretch>
        </p:blipFill>
        <p:spPr>
          <a:xfrm>
            <a:off x="581174" y="3257476"/>
            <a:ext cx="113407" cy="113407"/>
          </a:xfrm>
          <a:prstGeom prst="rect">
            <a:avLst/>
          </a:prstGeom>
        </p:spPr>
      </p:pic>
      <p:sp>
        <p:nvSpPr>
          <p:cNvPr id="7" name="Text 3"/>
          <p:cNvSpPr/>
          <p:nvPr/>
        </p:nvSpPr>
        <p:spPr>
          <a:xfrm>
            <a:off x="751284" y="3248992"/>
            <a:ext cx="1417588" cy="130373"/>
          </a:xfrm>
          <a:prstGeom prst="rect">
            <a:avLst/>
          </a:prstGeom>
          <a:noFill/>
          <a:ln/>
        </p:spPr>
        <p:txBody>
          <a:bodyPr wrap="none" lIns="0" tIns="0" rIns="0" bIns="0" rtlCol="0" anchor="t"/>
          <a:lstStyle/>
          <a:p>
            <a:pPr algn="l" indent="0" marL="0">
              <a:lnSpc>
                <a:spcPct val="96000"/>
              </a:lnSpc>
              <a:buNone/>
            </a:pPr>
            <a:r>
              <a:rPr lang="en-US" sz="850" dirty="0">
                <a:solidFill>
                  <a:srgbClr val="481C9E"/>
                </a:solidFill>
                <a:latin typeface="Heebo Light" pitchFamily="34" charset="0"/>
                <a:ea typeface="Heebo Light" pitchFamily="34" charset="-122"/>
                <a:cs typeface="Heebo Light" pitchFamily="34" charset="-120"/>
              </a:rPr>
              <a:t>HEALTHCARE LOGISTICS PLATFORM</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108174"/>
            <a:ext cx="4722763" cy="708720"/>
          </a:xfrm>
          <a:prstGeom prst="rect">
            <a:avLst/>
          </a:prstGeom>
          <a:noFill/>
          <a:ln/>
        </p:spPr>
        <p:txBody>
          <a:bodyPr wrap="square" lIns="0" tIns="0" rIns="0" bIns="0" rtlCol="0" anchor="t">
            <a:normAutofit/>
          </a:bodyPr>
          <a:lstStyle/>
          <a:p>
            <a:pPr algn="l" indent="0" marL="0">
              <a:lnSpc>
                <a:spcPct val="104000"/>
              </a:lnSpc>
              <a:buNone/>
            </a:pPr>
            <a:r>
              <a:rPr lang="en-US" sz="2200" dirty="0">
                <a:solidFill>
                  <a:srgbClr val="F2F0F4"/>
                </a:solidFill>
                <a:latin typeface="Montserrat" pitchFamily="34" charset="0"/>
                <a:ea typeface="Montserrat" pitchFamily="34" charset="-122"/>
                <a:cs typeface="Montserrat" pitchFamily="34" charset="-120"/>
              </a:rPr>
              <a:t>Introduction &amp; Problem Statement</a:t>
            </a:r>
            <a:endParaRPr lang="en-US" sz="2200" dirty="0"/>
          </a:p>
        </p:txBody>
      </p:sp>
      <p:sp>
        <p:nvSpPr>
          <p:cNvPr id="4" name="Text 1"/>
          <p:cNvSpPr/>
          <p:nvPr/>
        </p:nvSpPr>
        <p:spPr>
          <a:xfrm>
            <a:off x="3925119" y="2029495"/>
            <a:ext cx="4722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Need: Hospitals face critical medicine shortages while excess stocks expire unused in nearby facilities.</a:t>
            </a:r>
            <a:endParaRPr lang="en-US" sz="1100" dirty="0"/>
          </a:p>
        </p:txBody>
      </p:sp>
      <p:sp>
        <p:nvSpPr>
          <p:cNvPr id="5" name="Text 2"/>
          <p:cNvSpPr/>
          <p:nvPr/>
        </p:nvSpPr>
        <p:spPr>
          <a:xfrm>
            <a:off x="3925119" y="2642592"/>
            <a:ext cx="4722763" cy="779562"/>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DCD7E5"/>
                </a:solidFill>
                <a:latin typeface="Heebo Light" pitchFamily="34" charset="0"/>
                <a:ea typeface="Heebo Light" pitchFamily="34" charset="-122"/>
                <a:cs typeface="Heebo Light" pitchFamily="34" charset="-120"/>
              </a:rPr>
              <a:t>Severe stockouts in emergency &amp; ICU wards put patient lives at risk</a:t>
            </a:r>
            <a:endParaRPr lang="en-US" sz="1100" dirty="0"/>
          </a:p>
          <a:p>
            <a:pPr algn="l" marL="223520" indent="-223520">
              <a:lnSpc>
                <a:spcPct val="133000"/>
              </a:lnSpc>
              <a:buSzPct val="100000"/>
              <a:buChar char="•"/>
            </a:pPr>
            <a:r>
              <a:rPr lang="en-US" sz="1100" dirty="0">
                <a:solidFill>
                  <a:srgbClr val="DCD7E5"/>
                </a:solidFill>
                <a:latin typeface="Heebo Light" pitchFamily="34" charset="0"/>
                <a:ea typeface="Heebo Light" pitchFamily="34" charset="-122"/>
                <a:cs typeface="Heebo Light" pitchFamily="34" charset="-120"/>
              </a:rPr>
              <a:t>Surplus medicines expire in donor warehouses without redistribution</a:t>
            </a:r>
            <a:endParaRPr lang="en-US" sz="1100" dirty="0"/>
          </a:p>
          <a:p>
            <a:pPr algn="l" marL="223520" indent="-223520">
              <a:lnSpc>
                <a:spcPct val="133000"/>
              </a:lnSpc>
              <a:buSzPct val="100000"/>
              <a:buChar char="•"/>
            </a:pPr>
            <a:r>
              <a:rPr lang="en-US" sz="1100" dirty="0">
                <a:solidFill>
                  <a:srgbClr val="DCD7E5"/>
                </a:solidFill>
                <a:latin typeface="Heebo Light" pitchFamily="34" charset="0"/>
                <a:ea typeface="Heebo Light" pitchFamily="34" charset="-122"/>
                <a:cs typeface="Heebo Light" pitchFamily="34" charset="-120"/>
              </a:rPr>
              <a:t>Manual inter-hospital coordination is slow, fragmented, and error-prone</a:t>
            </a:r>
            <a:endParaRPr lang="en-US" sz="1100" dirty="0"/>
          </a:p>
        </p:txBody>
      </p:sp>
      <p:sp>
        <p:nvSpPr>
          <p:cNvPr id="6" name="Text 3"/>
          <p:cNvSpPr/>
          <p:nvPr/>
        </p:nvSpPr>
        <p:spPr>
          <a:xfrm>
            <a:off x="3925119" y="3581623"/>
            <a:ext cx="4722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Purpose: Build an intelligent web platform that automates demand forecasting, AI donor matching, and medicine transfer tracking.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1128713"/>
            <a:ext cx="8151763" cy="354360"/>
          </a:xfrm>
          <a:prstGeom prst="rect">
            <a:avLst/>
          </a:prstGeom>
          <a:noFill/>
          <a:ln/>
        </p:spPr>
        <p:txBody>
          <a:bodyPr wrap="none" lIns="0" tIns="0" rIns="0" bIns="0" rtlCol="0" anchor="t"/>
          <a:lstStyle/>
          <a:p>
            <a:pPr algn="l" indent="0" marL="0">
              <a:lnSpc>
                <a:spcPct val="104000"/>
              </a:lnSpc>
              <a:buNone/>
            </a:pPr>
            <a:r>
              <a:rPr lang="en-US" sz="2200" dirty="0">
                <a:solidFill>
                  <a:srgbClr val="F2F0F4"/>
                </a:solidFill>
                <a:latin typeface="Montserrat" pitchFamily="34" charset="0"/>
                <a:ea typeface="Montserrat" pitchFamily="34" charset="-122"/>
                <a:cs typeface="Montserrat" pitchFamily="34" charset="-120"/>
              </a:rPr>
              <a:t>Objectives</a:t>
            </a:r>
            <a:endParaRPr lang="en-US" sz="2200" dirty="0"/>
          </a:p>
        </p:txBody>
      </p:sp>
      <p:sp>
        <p:nvSpPr>
          <p:cNvPr id="3" name="Shape 1"/>
          <p:cNvSpPr/>
          <p:nvPr/>
        </p:nvSpPr>
        <p:spPr>
          <a:xfrm>
            <a:off x="496119" y="1766590"/>
            <a:ext cx="2622724" cy="1053182"/>
          </a:xfrm>
          <a:prstGeom prst="roundRect">
            <a:avLst>
              <a:gd name="adj" fmla="val 5654"/>
            </a:avLst>
          </a:prstGeom>
          <a:solidFill>
            <a:srgbClr val="31136C"/>
          </a:solidFill>
          <a:ln w="4763">
            <a:solidFill>
              <a:srgbClr val="4A2C85"/>
            </a:solidFill>
            <a:prstDash val="solid"/>
          </a:ln>
        </p:spPr>
      </p:sp>
      <p:sp>
        <p:nvSpPr>
          <p:cNvPr id="4" name="Text 2"/>
          <p:cNvSpPr/>
          <p:nvPr/>
        </p:nvSpPr>
        <p:spPr>
          <a:xfrm>
            <a:off x="642640" y="1913111"/>
            <a:ext cx="2329681" cy="221456"/>
          </a:xfrm>
          <a:prstGeom prst="rect">
            <a:avLst/>
          </a:prstGeom>
          <a:noFill/>
          <a:ln/>
        </p:spPr>
        <p:txBody>
          <a:bodyPr wrap="none" lIns="0" tIns="0" rIns="0" bIns="0" rtlCol="0" anchor="t"/>
          <a:lstStyle/>
          <a:p>
            <a:pPr algn="l"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Inventory Intelligence</a:t>
            </a:r>
            <a:endParaRPr lang="en-US" sz="1350" dirty="0"/>
          </a:p>
        </p:txBody>
      </p:sp>
      <p:sp>
        <p:nvSpPr>
          <p:cNvPr id="5" name="Text 3"/>
          <p:cNvSpPr/>
          <p:nvPr/>
        </p:nvSpPr>
        <p:spPr>
          <a:xfrm>
            <a:off x="642640" y="2219623"/>
            <a:ext cx="2329681"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Real-time batch tracking with automated FIFO rules and expiry alerts.</a:t>
            </a:r>
            <a:endParaRPr lang="en-US" sz="1100" dirty="0"/>
          </a:p>
        </p:txBody>
      </p:sp>
      <p:sp>
        <p:nvSpPr>
          <p:cNvPr id="6" name="Shape 4"/>
          <p:cNvSpPr/>
          <p:nvPr/>
        </p:nvSpPr>
        <p:spPr>
          <a:xfrm>
            <a:off x="3260601" y="1766590"/>
            <a:ext cx="2622724" cy="1053182"/>
          </a:xfrm>
          <a:prstGeom prst="roundRect">
            <a:avLst>
              <a:gd name="adj" fmla="val 5654"/>
            </a:avLst>
          </a:prstGeom>
          <a:solidFill>
            <a:srgbClr val="31136C"/>
          </a:solidFill>
          <a:ln w="4763">
            <a:solidFill>
              <a:srgbClr val="4A2C85"/>
            </a:solidFill>
            <a:prstDash val="solid"/>
          </a:ln>
        </p:spPr>
      </p:sp>
      <p:sp>
        <p:nvSpPr>
          <p:cNvPr id="7" name="Text 5"/>
          <p:cNvSpPr/>
          <p:nvPr/>
        </p:nvSpPr>
        <p:spPr>
          <a:xfrm>
            <a:off x="3407122" y="1913111"/>
            <a:ext cx="2329681" cy="221456"/>
          </a:xfrm>
          <a:prstGeom prst="rect">
            <a:avLst/>
          </a:prstGeom>
          <a:noFill/>
          <a:ln/>
        </p:spPr>
        <p:txBody>
          <a:bodyPr wrap="none" lIns="0" tIns="0" rIns="0" bIns="0" rtlCol="0" anchor="t"/>
          <a:lstStyle/>
          <a:p>
            <a:pPr algn="l"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Demand Forecasting</a:t>
            </a:r>
            <a:endParaRPr lang="en-US" sz="1350" dirty="0"/>
          </a:p>
        </p:txBody>
      </p:sp>
      <p:sp>
        <p:nvSpPr>
          <p:cNvPr id="8" name="Text 6"/>
          <p:cNvSpPr/>
          <p:nvPr/>
        </p:nvSpPr>
        <p:spPr>
          <a:xfrm>
            <a:off x="3407122" y="2219623"/>
            <a:ext cx="2329681"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Deterministic risk engine to preempt critical medicine shortages.</a:t>
            </a:r>
            <a:endParaRPr lang="en-US" sz="1100" dirty="0"/>
          </a:p>
        </p:txBody>
      </p:sp>
      <p:sp>
        <p:nvSpPr>
          <p:cNvPr id="9" name="Shape 7"/>
          <p:cNvSpPr/>
          <p:nvPr/>
        </p:nvSpPr>
        <p:spPr>
          <a:xfrm>
            <a:off x="6025083" y="1766590"/>
            <a:ext cx="2622724" cy="1053182"/>
          </a:xfrm>
          <a:prstGeom prst="roundRect">
            <a:avLst>
              <a:gd name="adj" fmla="val 5654"/>
            </a:avLst>
          </a:prstGeom>
          <a:solidFill>
            <a:srgbClr val="31136C"/>
          </a:solidFill>
          <a:ln w="4763">
            <a:solidFill>
              <a:srgbClr val="4A2C85"/>
            </a:solidFill>
            <a:prstDash val="solid"/>
          </a:ln>
        </p:spPr>
      </p:sp>
      <p:sp>
        <p:nvSpPr>
          <p:cNvPr id="10" name="Text 8"/>
          <p:cNvSpPr/>
          <p:nvPr/>
        </p:nvSpPr>
        <p:spPr>
          <a:xfrm>
            <a:off x="6171605" y="1913111"/>
            <a:ext cx="2329681" cy="221456"/>
          </a:xfrm>
          <a:prstGeom prst="rect">
            <a:avLst/>
          </a:prstGeom>
          <a:noFill/>
          <a:ln/>
        </p:spPr>
        <p:txBody>
          <a:bodyPr wrap="none" lIns="0" tIns="0" rIns="0" bIns="0" rtlCol="0" anchor="t"/>
          <a:lstStyle/>
          <a:p>
            <a:pPr algn="l"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Smart Donor Matching</a:t>
            </a:r>
            <a:endParaRPr lang="en-US" sz="1350" dirty="0"/>
          </a:p>
        </p:txBody>
      </p:sp>
      <p:sp>
        <p:nvSpPr>
          <p:cNvPr id="11" name="Text 9"/>
          <p:cNvSpPr/>
          <p:nvPr/>
        </p:nvSpPr>
        <p:spPr>
          <a:xfrm>
            <a:off x="6171605" y="2219623"/>
            <a:ext cx="2329681"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Rank nearest donors within 50 km by stock, distance, and reliability.</a:t>
            </a:r>
            <a:endParaRPr lang="en-US" sz="1100" dirty="0"/>
          </a:p>
        </p:txBody>
      </p:sp>
      <p:sp>
        <p:nvSpPr>
          <p:cNvPr id="12" name="Shape 10"/>
          <p:cNvSpPr/>
          <p:nvPr/>
        </p:nvSpPr>
        <p:spPr>
          <a:xfrm>
            <a:off x="496119" y="2961531"/>
            <a:ext cx="4004965" cy="1053182"/>
          </a:xfrm>
          <a:prstGeom prst="roundRect">
            <a:avLst>
              <a:gd name="adj" fmla="val 5654"/>
            </a:avLst>
          </a:prstGeom>
          <a:solidFill>
            <a:srgbClr val="31136C"/>
          </a:solidFill>
          <a:ln w="4763">
            <a:solidFill>
              <a:srgbClr val="4A2C85"/>
            </a:solidFill>
            <a:prstDash val="solid"/>
          </a:ln>
        </p:spPr>
      </p:sp>
      <p:sp>
        <p:nvSpPr>
          <p:cNvPr id="13" name="Text 11"/>
          <p:cNvSpPr/>
          <p:nvPr/>
        </p:nvSpPr>
        <p:spPr>
          <a:xfrm>
            <a:off x="642640" y="3108052"/>
            <a:ext cx="3711922" cy="221456"/>
          </a:xfrm>
          <a:prstGeom prst="rect">
            <a:avLst/>
          </a:prstGeom>
          <a:noFill/>
          <a:ln/>
        </p:spPr>
        <p:txBody>
          <a:bodyPr wrap="none" lIns="0" tIns="0" rIns="0" bIns="0" rtlCol="0" anchor="t"/>
          <a:lstStyle/>
          <a:p>
            <a:pPr algn="l"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Transfer Lifecycle</a:t>
            </a:r>
            <a:endParaRPr lang="en-US" sz="1350" dirty="0"/>
          </a:p>
        </p:txBody>
      </p:sp>
      <p:sp>
        <p:nvSpPr>
          <p:cNvPr id="14" name="Text 12"/>
          <p:cNvSpPr/>
          <p:nvPr/>
        </p:nvSpPr>
        <p:spPr>
          <a:xfrm>
            <a:off x="642640" y="3414564"/>
            <a:ext cx="3711922"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End-to-end 7-stage workflow from dispatch to verified delivery.</a:t>
            </a:r>
            <a:endParaRPr lang="en-US" sz="1100" dirty="0"/>
          </a:p>
        </p:txBody>
      </p:sp>
      <p:sp>
        <p:nvSpPr>
          <p:cNvPr id="15" name="Shape 13"/>
          <p:cNvSpPr/>
          <p:nvPr/>
        </p:nvSpPr>
        <p:spPr>
          <a:xfrm>
            <a:off x="4642842" y="2961531"/>
            <a:ext cx="4004965" cy="1053182"/>
          </a:xfrm>
          <a:prstGeom prst="roundRect">
            <a:avLst>
              <a:gd name="adj" fmla="val 5654"/>
            </a:avLst>
          </a:prstGeom>
          <a:solidFill>
            <a:srgbClr val="31136C"/>
          </a:solidFill>
          <a:ln w="4763">
            <a:solidFill>
              <a:srgbClr val="4A2C85"/>
            </a:solidFill>
            <a:prstDash val="solid"/>
          </a:ln>
        </p:spPr>
      </p:sp>
      <p:sp>
        <p:nvSpPr>
          <p:cNvPr id="16" name="Text 14"/>
          <p:cNvSpPr/>
          <p:nvPr/>
        </p:nvSpPr>
        <p:spPr>
          <a:xfrm>
            <a:off x="4789363" y="3108052"/>
            <a:ext cx="3711922" cy="221456"/>
          </a:xfrm>
          <a:prstGeom prst="rect">
            <a:avLst/>
          </a:prstGeom>
          <a:noFill/>
          <a:ln/>
        </p:spPr>
        <p:txBody>
          <a:bodyPr wrap="none" lIns="0" tIns="0" rIns="0" bIns="0" rtlCol="0" anchor="t"/>
          <a:lstStyle/>
          <a:p>
            <a:pPr algn="l"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Geospatial Operations</a:t>
            </a:r>
            <a:endParaRPr lang="en-US" sz="1350" dirty="0"/>
          </a:p>
        </p:txBody>
      </p:sp>
      <p:sp>
        <p:nvSpPr>
          <p:cNvPr id="17" name="Text 15"/>
          <p:cNvSpPr/>
          <p:nvPr/>
        </p:nvSpPr>
        <p:spPr>
          <a:xfrm>
            <a:off x="4789363" y="3414564"/>
            <a:ext cx="3711922"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Interactive Leaflet map for regional healthcare logistics command.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51693"/>
            <a:ext cx="8151763" cy="354360"/>
          </a:xfrm>
          <a:prstGeom prst="rect">
            <a:avLst/>
          </a:prstGeom>
          <a:noFill/>
          <a:ln/>
        </p:spPr>
        <p:txBody>
          <a:bodyPr wrap="none" lIns="0" tIns="0" rIns="0" bIns="0" rtlCol="0" anchor="t"/>
          <a:lstStyle/>
          <a:p>
            <a:pPr algn="l" indent="0" marL="0">
              <a:lnSpc>
                <a:spcPct val="104000"/>
              </a:lnSpc>
              <a:buNone/>
            </a:pPr>
            <a:r>
              <a:rPr lang="en-US" sz="2200" dirty="0">
                <a:solidFill>
                  <a:srgbClr val="F2F0F4"/>
                </a:solidFill>
                <a:latin typeface="Montserrat" pitchFamily="34" charset="0"/>
                <a:ea typeface="Montserrat" pitchFamily="34" charset="-122"/>
                <a:cs typeface="Montserrat" pitchFamily="34" charset="-120"/>
              </a:rPr>
              <a:t>Key Features</a:t>
            </a:r>
            <a:endParaRPr lang="en-US" sz="2200" dirty="0"/>
          </a:p>
        </p:txBody>
      </p:sp>
      <p:pic>
        <p:nvPicPr>
          <p:cNvPr id="3" name="Image 0" descr="preencoded.png">    </p:cNvPr>
          <p:cNvPicPr>
            <a:picLocks noChangeAspect="1"/>
          </p:cNvPicPr>
          <p:nvPr/>
        </p:nvPicPr>
        <p:blipFill>
          <a:blip r:embed="rId1"/>
          <a:stretch>
            <a:fillRect/>
          </a:stretch>
        </p:blipFill>
        <p:spPr>
          <a:xfrm>
            <a:off x="496119" y="1089571"/>
            <a:ext cx="419100" cy="523875"/>
          </a:xfrm>
          <a:prstGeom prst="rect">
            <a:avLst/>
          </a:prstGeom>
        </p:spPr>
      </p:pic>
      <p:sp>
        <p:nvSpPr>
          <p:cNvPr id="4" name="Text 1"/>
          <p:cNvSpPr/>
          <p:nvPr/>
        </p:nvSpPr>
        <p:spPr>
          <a:xfrm>
            <a:off x="1092398" y="1089571"/>
            <a:ext cx="1308720" cy="442913"/>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Role-Based Access</a:t>
            </a:r>
            <a:endParaRPr lang="en-US" sz="1350" dirty="0"/>
          </a:p>
        </p:txBody>
      </p:sp>
      <p:sp>
        <p:nvSpPr>
          <p:cNvPr id="5" name="Text 2"/>
          <p:cNvSpPr/>
          <p:nvPr/>
        </p:nvSpPr>
        <p:spPr>
          <a:xfrm>
            <a:off x="1092398" y="1617538"/>
            <a:ext cx="1308720"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BCrypt auth for Admin, Hospital, Pharmacy, and Logistics roles.</a:t>
            </a:r>
            <a:endParaRPr lang="en-US" sz="1100" dirty="0"/>
          </a:p>
        </p:txBody>
      </p:sp>
      <p:pic>
        <p:nvPicPr>
          <p:cNvPr id="6" name="Image 1" descr="preencoded.png">    </p:cNvPr>
          <p:cNvPicPr>
            <a:picLocks noChangeAspect="1"/>
          </p:cNvPicPr>
          <p:nvPr/>
        </p:nvPicPr>
        <p:blipFill>
          <a:blip r:embed="rId2"/>
          <a:stretch>
            <a:fillRect/>
          </a:stretch>
        </p:blipFill>
        <p:spPr>
          <a:xfrm>
            <a:off x="2578298" y="1089571"/>
            <a:ext cx="419100" cy="523875"/>
          </a:xfrm>
          <a:prstGeom prst="rect">
            <a:avLst/>
          </a:prstGeom>
        </p:spPr>
      </p:pic>
      <p:sp>
        <p:nvSpPr>
          <p:cNvPr id="7" name="Text 3"/>
          <p:cNvSpPr/>
          <p:nvPr/>
        </p:nvSpPr>
        <p:spPr>
          <a:xfrm>
            <a:off x="3174578" y="1089571"/>
            <a:ext cx="1308795" cy="442913"/>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Batch Inventory &amp; FIFO</a:t>
            </a:r>
            <a:endParaRPr lang="en-US" sz="1350" dirty="0"/>
          </a:p>
        </p:txBody>
      </p:sp>
      <p:sp>
        <p:nvSpPr>
          <p:cNvPr id="8" name="Text 4"/>
          <p:cNvSpPr/>
          <p:nvPr/>
        </p:nvSpPr>
        <p:spPr>
          <a:xfrm>
            <a:off x="3174578" y="1617538"/>
            <a:ext cx="1308795"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Batch tracking with cold-chain, controlled flags, and audit logs.</a:t>
            </a:r>
            <a:endParaRPr lang="en-US" sz="1100" dirty="0"/>
          </a:p>
        </p:txBody>
      </p:sp>
      <p:pic>
        <p:nvPicPr>
          <p:cNvPr id="9" name="Image 2" descr="preencoded.png">    </p:cNvPr>
          <p:cNvPicPr>
            <a:picLocks noChangeAspect="1"/>
          </p:cNvPicPr>
          <p:nvPr/>
        </p:nvPicPr>
        <p:blipFill>
          <a:blip r:embed="rId3"/>
          <a:stretch>
            <a:fillRect/>
          </a:stretch>
        </p:blipFill>
        <p:spPr>
          <a:xfrm>
            <a:off x="4660553" y="1089571"/>
            <a:ext cx="419100" cy="523875"/>
          </a:xfrm>
          <a:prstGeom prst="rect">
            <a:avLst/>
          </a:prstGeom>
        </p:spPr>
      </p:pic>
      <p:sp>
        <p:nvSpPr>
          <p:cNvPr id="10" name="Text 5"/>
          <p:cNvSpPr/>
          <p:nvPr/>
        </p:nvSpPr>
        <p:spPr>
          <a:xfrm>
            <a:off x="5256833" y="1089571"/>
            <a:ext cx="1308795" cy="221456"/>
          </a:xfrm>
          <a:prstGeom prst="rect">
            <a:avLst/>
          </a:prstGeom>
          <a:noFill/>
          <a:ln/>
        </p:spPr>
        <p:txBody>
          <a:bodyPr wrap="none" lIns="0" tIns="0" rIns="0" bIns="0" rtlCol="0" anchor="t"/>
          <a:lstStyle/>
          <a:p>
            <a:pPr algn="l"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Command Dashboard</a:t>
            </a:r>
            <a:endParaRPr lang="en-US" sz="1350" dirty="0"/>
          </a:p>
        </p:txBody>
      </p:sp>
      <p:sp>
        <p:nvSpPr>
          <p:cNvPr id="11" name="Text 6"/>
          <p:cNvSpPr/>
          <p:nvPr/>
        </p:nvSpPr>
        <p:spPr>
          <a:xfrm>
            <a:off x="5256833" y="1396082"/>
            <a:ext cx="1308795"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Live telemetry counters, inventory health, and critical risk alerts.</a:t>
            </a:r>
            <a:endParaRPr lang="en-US" sz="1100" dirty="0"/>
          </a:p>
        </p:txBody>
      </p:sp>
      <p:pic>
        <p:nvPicPr>
          <p:cNvPr id="12" name="Image 3" descr="preencoded.png">    </p:cNvPr>
          <p:cNvPicPr>
            <a:picLocks noChangeAspect="1"/>
          </p:cNvPicPr>
          <p:nvPr/>
        </p:nvPicPr>
        <p:blipFill>
          <a:blip r:embed="rId4"/>
          <a:stretch>
            <a:fillRect/>
          </a:stretch>
        </p:blipFill>
        <p:spPr>
          <a:xfrm>
            <a:off x="6742807" y="1089571"/>
            <a:ext cx="419100" cy="523875"/>
          </a:xfrm>
          <a:prstGeom prst="rect">
            <a:avLst/>
          </a:prstGeom>
        </p:spPr>
      </p:pic>
      <p:sp>
        <p:nvSpPr>
          <p:cNvPr id="13" name="Text 7"/>
          <p:cNvSpPr/>
          <p:nvPr/>
        </p:nvSpPr>
        <p:spPr>
          <a:xfrm>
            <a:off x="7339087" y="1089571"/>
            <a:ext cx="1308795" cy="442913"/>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Smart Donor Engine</a:t>
            </a:r>
            <a:endParaRPr lang="en-US" sz="1350" dirty="0"/>
          </a:p>
        </p:txBody>
      </p:sp>
      <p:sp>
        <p:nvSpPr>
          <p:cNvPr id="14" name="Text 8"/>
          <p:cNvSpPr/>
          <p:nvPr/>
        </p:nvSpPr>
        <p:spPr>
          <a:xfrm>
            <a:off x="7339087" y="1617538"/>
            <a:ext cx="1308795"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Multi-factor scoring: distance penalty, stock surplus, and reliability.</a:t>
            </a:r>
            <a:endParaRPr lang="en-US" sz="1100" dirty="0"/>
          </a:p>
        </p:txBody>
      </p:sp>
      <p:pic>
        <p:nvPicPr>
          <p:cNvPr id="15" name="Image 4" descr="preencoded.png">    </p:cNvPr>
          <p:cNvPicPr>
            <a:picLocks noChangeAspect="1"/>
          </p:cNvPicPr>
          <p:nvPr/>
        </p:nvPicPr>
        <p:blipFill>
          <a:blip r:embed="rId5"/>
          <a:stretch>
            <a:fillRect/>
          </a:stretch>
        </p:blipFill>
        <p:spPr>
          <a:xfrm>
            <a:off x="496119" y="2808312"/>
            <a:ext cx="419100" cy="523875"/>
          </a:xfrm>
          <a:prstGeom prst="rect">
            <a:avLst/>
          </a:prstGeom>
        </p:spPr>
      </p:pic>
      <p:sp>
        <p:nvSpPr>
          <p:cNvPr id="16" name="Text 9"/>
          <p:cNvSpPr/>
          <p:nvPr/>
        </p:nvSpPr>
        <p:spPr>
          <a:xfrm>
            <a:off x="1092398" y="2808312"/>
            <a:ext cx="1308720" cy="664369"/>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Transfer Manifests</a:t>
            </a:r>
            <a:endParaRPr lang="en-US" sz="1350" dirty="0"/>
          </a:p>
        </p:txBody>
      </p:sp>
      <p:sp>
        <p:nvSpPr>
          <p:cNvPr id="17" name="Text 10"/>
          <p:cNvSpPr/>
          <p:nvPr/>
        </p:nvSpPr>
        <p:spPr>
          <a:xfrm>
            <a:off x="1092398" y="3557736"/>
            <a:ext cx="1308720"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Full lifecycle tracking: Requested, Accepted, In-Transit, and Received.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05929"/>
            <a:ext cx="8151763" cy="210369"/>
          </a:xfrm>
          <a:prstGeom prst="rect">
            <a:avLst/>
          </a:prstGeom>
          <a:noFill/>
          <a:ln/>
        </p:spPr>
        <p:txBody>
          <a:bodyPr wrap="none" lIns="0" tIns="0" rIns="0" bIns="0" rtlCol="0" anchor="t"/>
          <a:lstStyle/>
          <a:p>
            <a:pPr algn="l" indent="0" marL="0">
              <a:lnSpc>
                <a:spcPct val="104000"/>
              </a:lnSpc>
              <a:buNone/>
            </a:pPr>
            <a:r>
              <a:rPr lang="en-US" sz="1300" dirty="0">
                <a:solidFill>
                  <a:srgbClr val="F2F0F4"/>
                </a:solidFill>
                <a:latin typeface="Montserrat" pitchFamily="34" charset="0"/>
                <a:ea typeface="Montserrat" pitchFamily="34" charset="-122"/>
                <a:cs typeface="Montserrat" pitchFamily="34" charset="-120"/>
              </a:rPr>
              <a:t>Technology Stack</a:t>
            </a:r>
            <a:endParaRPr lang="en-US" sz="1300" dirty="0"/>
          </a:p>
        </p:txBody>
      </p:sp>
      <p:sp>
        <p:nvSpPr>
          <p:cNvPr id="3" name="Text 1"/>
          <p:cNvSpPr/>
          <p:nvPr/>
        </p:nvSpPr>
        <p:spPr>
          <a:xfrm>
            <a:off x="496119" y="736178"/>
            <a:ext cx="3594646" cy="107305"/>
          </a:xfrm>
          <a:prstGeom prst="rect">
            <a:avLst/>
          </a:prstGeom>
          <a:noFill/>
          <a:ln/>
        </p:spPr>
        <p:txBody>
          <a:bodyPr wrap="none" lIns="0" tIns="0" rIns="0" bIns="0" rtlCol="0" anchor="t"/>
          <a:lstStyle/>
          <a:p>
            <a:pPr algn="l" indent="0" marL="0">
              <a:lnSpc>
                <a:spcPct val="106000"/>
              </a:lnSpc>
              <a:buNone/>
            </a:pPr>
            <a:r>
              <a:rPr lang="en-US" sz="650" dirty="0">
                <a:solidFill>
                  <a:srgbClr val="DCD7E5"/>
                </a:solidFill>
                <a:latin typeface="Heebo Light" pitchFamily="34" charset="0"/>
                <a:ea typeface="Heebo Light" pitchFamily="34" charset="-122"/>
                <a:cs typeface="Heebo Light" pitchFamily="34" charset="-120"/>
              </a:rPr>
              <a:t>System Layers</a:t>
            </a:r>
            <a:endParaRPr lang="en-US" sz="650" dirty="0"/>
          </a:p>
        </p:txBody>
      </p:sp>
      <p:sp>
        <p:nvSpPr>
          <p:cNvPr id="4" name="Text 2"/>
          <p:cNvSpPr/>
          <p:nvPr/>
        </p:nvSpPr>
        <p:spPr>
          <a:xfrm>
            <a:off x="496119" y="888429"/>
            <a:ext cx="3137446" cy="731267"/>
          </a:xfrm>
          <a:prstGeom prst="rect">
            <a:avLst/>
          </a:prstGeom>
          <a:noFill/>
          <a:ln/>
        </p:spPr>
        <p:txBody>
          <a:bodyPr wrap="square" lIns="0" tIns="0" rIns="0" bIns="0" rtlCol="0" anchor="t">
            <a:normAutofit/>
          </a:bodyPr>
          <a:lstStyle/>
          <a:p>
            <a:pPr algn="l" marL="132080" indent="-132080">
              <a:lnSpc>
                <a:spcPct val="106000"/>
              </a:lnSpc>
              <a:buSzPct val="100000"/>
              <a:buChar char="•"/>
            </a:pPr>
            <a:r>
              <a:rPr lang="en-US" sz="650" dirty="0">
                <a:solidFill>
                  <a:srgbClr val="DCD7E5"/>
                </a:solidFill>
                <a:latin typeface="Heebo Light" pitchFamily="34" charset="0"/>
                <a:ea typeface="Heebo Light" pitchFamily="34" charset="-122"/>
                <a:cs typeface="Heebo Light" pitchFamily="34" charset="-120"/>
              </a:rPr>
              <a:t>Frontend: JSP, JSTL, Bootstrap 5, Vanilla JS, Leaflet.js, Chart.js</a:t>
            </a:r>
            <a:endParaRPr lang="en-US" sz="650" dirty="0"/>
          </a:p>
          <a:p>
            <a:pPr algn="l" marL="132080" indent="-132080">
              <a:lnSpc>
                <a:spcPct val="106000"/>
              </a:lnSpc>
              <a:buSzPct val="100000"/>
              <a:buChar char="•"/>
            </a:pPr>
            <a:r>
              <a:rPr lang="en-US" sz="650" dirty="0">
                <a:solidFill>
                  <a:srgbClr val="DCD7E5"/>
                </a:solidFill>
                <a:latin typeface="Heebo Light" pitchFamily="34" charset="0"/>
                <a:ea typeface="Heebo Light" pitchFamily="34" charset="-122"/>
                <a:cs typeface="Heebo Light" pitchFamily="34" charset="-120"/>
              </a:rPr>
              <a:t>Backend: Java 17, Spring MVC 5.3.31, classic javax.servlet</a:t>
            </a:r>
            <a:endParaRPr lang="en-US" sz="650" dirty="0"/>
          </a:p>
          <a:p>
            <a:pPr algn="l" marL="132080" indent="-132080">
              <a:lnSpc>
                <a:spcPct val="106000"/>
              </a:lnSpc>
              <a:buSzPct val="100000"/>
              <a:buChar char="•"/>
            </a:pPr>
            <a:r>
              <a:rPr lang="en-US" sz="650" dirty="0">
                <a:solidFill>
                  <a:srgbClr val="DCD7E5"/>
                </a:solidFill>
                <a:latin typeface="Heebo Light" pitchFamily="34" charset="0"/>
                <a:ea typeface="Heebo Light" pitchFamily="34" charset="-122"/>
                <a:cs typeface="Heebo Light" pitchFamily="34" charset="-120"/>
              </a:rPr>
              <a:t>Database: MySQL 8.x via Spring JDBC / JdbcTemplate</a:t>
            </a:r>
            <a:endParaRPr lang="en-US" sz="650" dirty="0"/>
          </a:p>
          <a:p>
            <a:pPr algn="l" marL="132080" indent="-132080">
              <a:lnSpc>
                <a:spcPct val="106000"/>
              </a:lnSpc>
              <a:buSzPct val="100000"/>
              <a:buChar char="•"/>
            </a:pPr>
            <a:r>
              <a:rPr lang="en-US" sz="650" dirty="0">
                <a:solidFill>
                  <a:srgbClr val="DCD7E5"/>
                </a:solidFill>
                <a:latin typeface="Heebo Light" pitchFamily="34" charset="0"/>
                <a:ea typeface="Heebo Light" pitchFamily="34" charset="-122"/>
                <a:cs typeface="Heebo Light" pitchFamily="34" charset="-120"/>
              </a:rPr>
              <a:t>Connection Pool: HikariCP (high-performance connection pooling)</a:t>
            </a:r>
            <a:endParaRPr lang="en-US" sz="650" dirty="0"/>
          </a:p>
          <a:p>
            <a:pPr algn="l" marL="132080" indent="-132080">
              <a:lnSpc>
                <a:spcPct val="106000"/>
              </a:lnSpc>
              <a:buSzPct val="100000"/>
              <a:buChar char="•"/>
            </a:pPr>
            <a:r>
              <a:rPr lang="en-US" sz="650" dirty="0">
                <a:solidFill>
                  <a:srgbClr val="DCD7E5"/>
                </a:solidFill>
                <a:latin typeface="Heebo Light" pitchFamily="34" charset="0"/>
                <a:ea typeface="Heebo Light" pitchFamily="34" charset="-122"/>
                <a:cs typeface="Heebo Light" pitchFamily="34" charset="-120"/>
              </a:rPr>
              <a:t>AI &amp; APIs: Hugging Face AI, Open-Meteo, OpenStreetMap</a:t>
            </a:r>
            <a:endParaRPr lang="en-US" sz="650" dirty="0"/>
          </a:p>
          <a:p>
            <a:pPr algn="l" marL="132080" indent="-132080">
              <a:lnSpc>
                <a:spcPct val="106000"/>
              </a:lnSpc>
              <a:buSzPct val="100000"/>
              <a:buChar char="•"/>
            </a:pPr>
            <a:r>
              <a:rPr lang="en-US" sz="650" dirty="0">
                <a:solidFill>
                  <a:srgbClr val="DCD7E5"/>
                </a:solidFill>
                <a:latin typeface="Heebo Light" pitchFamily="34" charset="0"/>
                <a:ea typeface="Heebo Light" pitchFamily="34" charset="-122"/>
                <a:cs typeface="Heebo Light" pitchFamily="34" charset="-120"/>
              </a:rPr>
              <a:t>Server &amp; Build: Apache Tomcat 9, Apache Maven</a:t>
            </a:r>
            <a:endParaRPr lang="en-US" sz="6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43710" y="747415"/>
            <a:ext cx="210369" cy="210369"/>
          </a:xfrm>
          <a:prstGeom prst="rect">
            <a:avLst/>
          </a:prstGeom>
        </p:spPr>
      </p:pic>
      <p:sp>
        <p:nvSpPr>
          <p:cNvPr id="6" name="Text 3"/>
          <p:cNvSpPr/>
          <p:nvPr/>
        </p:nvSpPr>
        <p:spPr>
          <a:xfrm>
            <a:off x="3843710" y="1020217"/>
            <a:ext cx="4808860" cy="131490"/>
          </a:xfrm>
          <a:prstGeom prst="rect">
            <a:avLst/>
          </a:prstGeom>
          <a:noFill/>
          <a:ln/>
        </p:spPr>
        <p:txBody>
          <a:bodyPr wrap="none" lIns="0" tIns="0" rIns="0" bIns="0" rtlCol="0" anchor="t"/>
          <a:lstStyle/>
          <a:p>
            <a:pPr algn="l" indent="0" marL="0">
              <a:lnSpc>
                <a:spcPct val="104000"/>
              </a:lnSpc>
              <a:buNone/>
            </a:pPr>
            <a:r>
              <a:rPr lang="en-US" sz="800" dirty="0">
                <a:solidFill>
                  <a:srgbClr val="DCD7E5"/>
                </a:solidFill>
                <a:latin typeface="Montserrat" pitchFamily="34" charset="0"/>
                <a:ea typeface="Montserrat" pitchFamily="34" charset="-122"/>
                <a:cs typeface="Montserrat" pitchFamily="34" charset="-120"/>
              </a:rPr>
              <a:t>HTML5 / JSP</a:t>
            </a:r>
            <a:endParaRPr lang="en-US" sz="8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43710" y="1251645"/>
            <a:ext cx="210369" cy="210369"/>
          </a:xfrm>
          <a:prstGeom prst="rect">
            <a:avLst/>
          </a:prstGeom>
        </p:spPr>
      </p:pic>
      <p:sp>
        <p:nvSpPr>
          <p:cNvPr id="8" name="Text 4"/>
          <p:cNvSpPr/>
          <p:nvPr/>
        </p:nvSpPr>
        <p:spPr>
          <a:xfrm>
            <a:off x="3843710" y="1524446"/>
            <a:ext cx="4808860" cy="131490"/>
          </a:xfrm>
          <a:prstGeom prst="rect">
            <a:avLst/>
          </a:prstGeom>
          <a:noFill/>
          <a:ln/>
        </p:spPr>
        <p:txBody>
          <a:bodyPr wrap="none" lIns="0" tIns="0" rIns="0" bIns="0" rtlCol="0" anchor="t"/>
          <a:lstStyle/>
          <a:p>
            <a:pPr algn="l" indent="0" marL="0">
              <a:lnSpc>
                <a:spcPct val="104000"/>
              </a:lnSpc>
              <a:buNone/>
            </a:pPr>
            <a:r>
              <a:rPr lang="en-US" sz="800" dirty="0">
                <a:solidFill>
                  <a:srgbClr val="DCD7E5"/>
                </a:solidFill>
                <a:latin typeface="Montserrat" pitchFamily="34" charset="0"/>
                <a:ea typeface="Montserrat" pitchFamily="34" charset="-122"/>
                <a:cs typeface="Montserrat" pitchFamily="34" charset="-120"/>
              </a:rPr>
              <a:t>Bootstrap 5</a:t>
            </a:r>
            <a:endParaRPr lang="en-US" sz="8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43710" y="1755874"/>
            <a:ext cx="210369" cy="210369"/>
          </a:xfrm>
          <a:prstGeom prst="rect">
            <a:avLst/>
          </a:prstGeom>
        </p:spPr>
      </p:pic>
      <p:sp>
        <p:nvSpPr>
          <p:cNvPr id="10" name="Text 5"/>
          <p:cNvSpPr/>
          <p:nvPr/>
        </p:nvSpPr>
        <p:spPr>
          <a:xfrm>
            <a:off x="3843710" y="2028676"/>
            <a:ext cx="4808860" cy="131490"/>
          </a:xfrm>
          <a:prstGeom prst="rect">
            <a:avLst/>
          </a:prstGeom>
          <a:noFill/>
          <a:ln/>
        </p:spPr>
        <p:txBody>
          <a:bodyPr wrap="none" lIns="0" tIns="0" rIns="0" bIns="0" rtlCol="0" anchor="t"/>
          <a:lstStyle/>
          <a:p>
            <a:pPr algn="l" indent="0" marL="0">
              <a:lnSpc>
                <a:spcPct val="104000"/>
              </a:lnSpc>
              <a:buNone/>
            </a:pPr>
            <a:r>
              <a:rPr lang="en-US" sz="800" dirty="0">
                <a:solidFill>
                  <a:srgbClr val="DCD7E5"/>
                </a:solidFill>
                <a:latin typeface="Montserrat" pitchFamily="34" charset="0"/>
                <a:ea typeface="Montserrat" pitchFamily="34" charset="-122"/>
                <a:cs typeface="Montserrat" pitchFamily="34" charset="-120"/>
              </a:rPr>
              <a:t>JavaScript</a:t>
            </a:r>
            <a:endParaRPr lang="en-US" sz="800" dirty="0"/>
          </a:p>
        </p:txBody>
      </p:sp>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43710" y="2260104"/>
            <a:ext cx="210369" cy="210369"/>
          </a:xfrm>
          <a:prstGeom prst="rect">
            <a:avLst/>
          </a:prstGeom>
        </p:spPr>
      </p:pic>
      <p:sp>
        <p:nvSpPr>
          <p:cNvPr id="12" name="Text 6"/>
          <p:cNvSpPr/>
          <p:nvPr/>
        </p:nvSpPr>
        <p:spPr>
          <a:xfrm>
            <a:off x="3843710" y="2532906"/>
            <a:ext cx="4808860" cy="131490"/>
          </a:xfrm>
          <a:prstGeom prst="rect">
            <a:avLst/>
          </a:prstGeom>
          <a:noFill/>
          <a:ln/>
        </p:spPr>
        <p:txBody>
          <a:bodyPr wrap="none" lIns="0" tIns="0" rIns="0" bIns="0" rtlCol="0" anchor="t"/>
          <a:lstStyle/>
          <a:p>
            <a:pPr algn="l" indent="0" marL="0">
              <a:lnSpc>
                <a:spcPct val="104000"/>
              </a:lnSpc>
              <a:buNone/>
            </a:pPr>
            <a:r>
              <a:rPr lang="en-US" sz="800" dirty="0">
                <a:solidFill>
                  <a:srgbClr val="DCD7E5"/>
                </a:solidFill>
                <a:latin typeface="Montserrat" pitchFamily="34" charset="0"/>
                <a:ea typeface="Montserrat" pitchFamily="34" charset="-122"/>
                <a:cs typeface="Montserrat" pitchFamily="34" charset="-120"/>
              </a:rPr>
              <a:t>Java 17</a:t>
            </a:r>
            <a:endParaRPr lang="en-US" sz="800" dirty="0"/>
          </a:p>
        </p:txBody>
      </p:sp>
      <p:pic>
        <p:nvPicPr>
          <p:cNvPr id="1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43710" y="2764334"/>
            <a:ext cx="210369" cy="210369"/>
          </a:xfrm>
          <a:prstGeom prst="rect">
            <a:avLst/>
          </a:prstGeom>
        </p:spPr>
      </p:pic>
      <p:sp>
        <p:nvSpPr>
          <p:cNvPr id="14" name="Text 7"/>
          <p:cNvSpPr/>
          <p:nvPr/>
        </p:nvSpPr>
        <p:spPr>
          <a:xfrm>
            <a:off x="3843710" y="3037136"/>
            <a:ext cx="4808860" cy="131490"/>
          </a:xfrm>
          <a:prstGeom prst="rect">
            <a:avLst/>
          </a:prstGeom>
          <a:noFill/>
          <a:ln/>
        </p:spPr>
        <p:txBody>
          <a:bodyPr wrap="none" lIns="0" tIns="0" rIns="0" bIns="0" rtlCol="0" anchor="t"/>
          <a:lstStyle/>
          <a:p>
            <a:pPr algn="l" indent="0" marL="0">
              <a:lnSpc>
                <a:spcPct val="104000"/>
              </a:lnSpc>
              <a:buNone/>
            </a:pPr>
            <a:r>
              <a:rPr lang="en-US" sz="800" dirty="0">
                <a:solidFill>
                  <a:srgbClr val="DCD7E5"/>
                </a:solidFill>
                <a:latin typeface="Montserrat" pitchFamily="34" charset="0"/>
                <a:ea typeface="Montserrat" pitchFamily="34" charset="-122"/>
                <a:cs typeface="Montserrat" pitchFamily="34" charset="-120"/>
              </a:rPr>
              <a:t>Spring MVC</a:t>
            </a:r>
            <a:endParaRPr lang="en-US" sz="800" dirty="0"/>
          </a:p>
        </p:txBody>
      </p:sp>
      <p:pic>
        <p:nvPicPr>
          <p:cNvPr id="1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843710" y="3268563"/>
            <a:ext cx="210369" cy="210369"/>
          </a:xfrm>
          <a:prstGeom prst="rect">
            <a:avLst/>
          </a:prstGeom>
        </p:spPr>
      </p:pic>
      <p:sp>
        <p:nvSpPr>
          <p:cNvPr id="16" name="Text 8"/>
          <p:cNvSpPr/>
          <p:nvPr/>
        </p:nvSpPr>
        <p:spPr>
          <a:xfrm>
            <a:off x="3843710" y="3541365"/>
            <a:ext cx="4808860" cy="131490"/>
          </a:xfrm>
          <a:prstGeom prst="rect">
            <a:avLst/>
          </a:prstGeom>
          <a:noFill/>
          <a:ln/>
        </p:spPr>
        <p:txBody>
          <a:bodyPr wrap="none" lIns="0" tIns="0" rIns="0" bIns="0" rtlCol="0" anchor="t"/>
          <a:lstStyle/>
          <a:p>
            <a:pPr algn="l" indent="0" marL="0">
              <a:lnSpc>
                <a:spcPct val="104000"/>
              </a:lnSpc>
              <a:buNone/>
            </a:pPr>
            <a:r>
              <a:rPr lang="en-US" sz="800" dirty="0">
                <a:solidFill>
                  <a:srgbClr val="DCD7E5"/>
                </a:solidFill>
                <a:latin typeface="Montserrat" pitchFamily="34" charset="0"/>
                <a:ea typeface="Montserrat" pitchFamily="34" charset="-122"/>
                <a:cs typeface="Montserrat" pitchFamily="34" charset="-120"/>
              </a:rPr>
              <a:t>MySQL 8</a:t>
            </a:r>
            <a:endParaRPr lang="en-US" sz="800" dirty="0"/>
          </a:p>
        </p:txBody>
      </p:sp>
      <p:pic>
        <p:nvPicPr>
          <p:cNvPr id="17"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843710" y="3772793"/>
            <a:ext cx="210369" cy="210369"/>
          </a:xfrm>
          <a:prstGeom prst="rect">
            <a:avLst/>
          </a:prstGeom>
        </p:spPr>
      </p:pic>
      <p:sp>
        <p:nvSpPr>
          <p:cNvPr id="18" name="Text 9"/>
          <p:cNvSpPr/>
          <p:nvPr/>
        </p:nvSpPr>
        <p:spPr>
          <a:xfrm>
            <a:off x="3843710" y="4045595"/>
            <a:ext cx="4808860" cy="131490"/>
          </a:xfrm>
          <a:prstGeom prst="rect">
            <a:avLst/>
          </a:prstGeom>
          <a:noFill/>
          <a:ln/>
        </p:spPr>
        <p:txBody>
          <a:bodyPr wrap="none" lIns="0" tIns="0" rIns="0" bIns="0" rtlCol="0" anchor="t"/>
          <a:lstStyle/>
          <a:p>
            <a:pPr algn="l" indent="0" marL="0">
              <a:lnSpc>
                <a:spcPct val="104000"/>
              </a:lnSpc>
              <a:buNone/>
            </a:pPr>
            <a:r>
              <a:rPr lang="en-US" sz="800" dirty="0">
                <a:solidFill>
                  <a:srgbClr val="DCD7E5"/>
                </a:solidFill>
                <a:latin typeface="Montserrat" pitchFamily="34" charset="0"/>
                <a:ea typeface="Montserrat" pitchFamily="34" charset="-122"/>
                <a:cs typeface="Montserrat" pitchFamily="34" charset="-120"/>
              </a:rPr>
              <a:t>Tomcat 9</a:t>
            </a:r>
            <a:endParaRPr lang="en-US" sz="800" dirty="0"/>
          </a:p>
        </p:txBody>
      </p:sp>
      <p:pic>
        <p:nvPicPr>
          <p:cNvPr id="19"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843710" y="4277023"/>
            <a:ext cx="210369" cy="210369"/>
          </a:xfrm>
          <a:prstGeom prst="rect">
            <a:avLst/>
          </a:prstGeom>
        </p:spPr>
      </p:pic>
      <p:sp>
        <p:nvSpPr>
          <p:cNvPr id="20" name="Text 10"/>
          <p:cNvSpPr/>
          <p:nvPr/>
        </p:nvSpPr>
        <p:spPr>
          <a:xfrm>
            <a:off x="3843710" y="4549825"/>
            <a:ext cx="4808860" cy="131490"/>
          </a:xfrm>
          <a:prstGeom prst="rect">
            <a:avLst/>
          </a:prstGeom>
          <a:noFill/>
          <a:ln/>
        </p:spPr>
        <p:txBody>
          <a:bodyPr wrap="none" lIns="0" tIns="0" rIns="0" bIns="0" rtlCol="0" anchor="t"/>
          <a:lstStyle/>
          <a:p>
            <a:pPr algn="l" indent="0" marL="0">
              <a:lnSpc>
                <a:spcPct val="104000"/>
              </a:lnSpc>
              <a:buNone/>
            </a:pPr>
            <a:r>
              <a:rPr lang="en-US" sz="800" dirty="0">
                <a:solidFill>
                  <a:srgbClr val="DCD7E5"/>
                </a:solidFill>
                <a:latin typeface="Montserrat" pitchFamily="34" charset="0"/>
                <a:ea typeface="Montserrat" pitchFamily="34" charset="-122"/>
                <a:cs typeface="Montserrat" pitchFamily="34" charset="-120"/>
              </a:rPr>
              <a:t>Maven / APIs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93576"/>
            <a:ext cx="8151763" cy="310083"/>
          </a:xfrm>
          <a:prstGeom prst="rect">
            <a:avLst/>
          </a:prstGeom>
          <a:noFill/>
          <a:ln/>
        </p:spPr>
        <p:txBody>
          <a:bodyPr wrap="none" lIns="0" tIns="0" rIns="0" bIns="0" rtlCol="0" anchor="t"/>
          <a:lstStyle/>
          <a:p>
            <a:pPr algn="l" indent="0" marL="0">
              <a:lnSpc>
                <a:spcPct val="104000"/>
              </a:lnSpc>
              <a:buNone/>
            </a:pPr>
            <a:r>
              <a:rPr lang="en-US" sz="1950" dirty="0">
                <a:solidFill>
                  <a:srgbClr val="F2F0F4"/>
                </a:solidFill>
                <a:latin typeface="Montserrat" pitchFamily="34" charset="0"/>
                <a:ea typeface="Montserrat" pitchFamily="34" charset="-122"/>
                <a:cs typeface="Montserrat" pitchFamily="34" charset="-120"/>
              </a:rPr>
              <a:t>System Architecture</a:t>
            </a:r>
            <a:endParaRPr lang="en-US" sz="1950" dirty="0"/>
          </a:p>
        </p:txBody>
      </p:sp>
      <p:pic>
        <p:nvPicPr>
          <p:cNvPr id="3" name="Image 0" descr="preencoded.png">    </p:cNvPr>
          <p:cNvPicPr>
            <a:picLocks noChangeAspect="1"/>
          </p:cNvPicPr>
          <p:nvPr/>
        </p:nvPicPr>
        <p:blipFill>
          <a:blip r:embed="rId1"/>
          <a:stretch>
            <a:fillRect/>
          </a:stretch>
        </p:blipFill>
        <p:spPr>
          <a:xfrm>
            <a:off x="496119" y="920725"/>
            <a:ext cx="8151763" cy="3521125"/>
          </a:xfrm>
          <a:prstGeom prst="rect">
            <a:avLst/>
          </a:prstGeom>
        </p:spPr>
      </p:pic>
      <p:sp>
        <p:nvSpPr>
          <p:cNvPr id="4" name="Text 1"/>
          <p:cNvSpPr/>
          <p:nvPr/>
        </p:nvSpPr>
        <p:spPr>
          <a:xfrm>
            <a:off x="2441329" y="3123180"/>
            <a:ext cx="1210397" cy="440901"/>
          </a:xfrm>
          <a:prstGeom prst="rect">
            <a:avLst/>
          </a:prstGeom>
          <a:noFill/>
          <a:ln/>
        </p:spPr>
        <p:txBody>
          <a:bodyPr wrap="square" lIns="0" tIns="0" rIns="0" bIns="0" rtlCol="0" anchor="t">
            <a:normAutofit/>
          </a:bodyPr>
          <a:lstStyle/>
          <a:p>
            <a:pPr algn="ctr"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Spring Controller</a:t>
            </a:r>
            <a:endParaRPr lang="en-US" sz="1350" dirty="0"/>
          </a:p>
        </p:txBody>
      </p:sp>
      <p:sp>
        <p:nvSpPr>
          <p:cNvPr id="5" name="Text 2"/>
          <p:cNvSpPr/>
          <p:nvPr/>
        </p:nvSpPr>
        <p:spPr>
          <a:xfrm>
            <a:off x="2441329" y="3626787"/>
            <a:ext cx="1210397" cy="496014"/>
          </a:xfrm>
          <a:prstGeom prst="rect">
            <a:avLst/>
          </a:prstGeom>
          <a:noFill/>
          <a:ln/>
        </p:spPr>
        <p:txBody>
          <a:bodyPr wrap="square" lIns="0" tIns="0" rIns="0" bIns="0" rtlCol="0" anchor="t">
            <a:normAutofit/>
          </a:bodyPr>
          <a:lstStyle/>
          <a:p>
            <a:pPr algn="ctr" indent="0" marL="0">
              <a:lnSpc>
                <a:spcPct val="98000"/>
              </a:lnSpc>
              <a:buNone/>
            </a:pPr>
            <a:r>
              <a:rPr lang="en-US" sz="1100" dirty="0">
                <a:solidFill>
                  <a:srgbClr val="DCD7E5"/>
                </a:solidFill>
                <a:latin typeface="Heebo Light" pitchFamily="34" charset="0"/>
                <a:ea typeface="Heebo Light" pitchFamily="34" charset="-122"/>
                <a:cs typeface="Heebo Light" pitchFamily="34" charset="-120"/>
              </a:rPr>
              <a:t>Routes requests &amp; checks session auth</a:t>
            </a:r>
            <a:endParaRPr lang="en-US" sz="1100" dirty="0"/>
          </a:p>
        </p:txBody>
      </p:sp>
      <p:sp>
        <p:nvSpPr>
          <p:cNvPr id="6" name="Text 3"/>
          <p:cNvSpPr/>
          <p:nvPr/>
        </p:nvSpPr>
        <p:spPr>
          <a:xfrm>
            <a:off x="5549316" y="3508969"/>
            <a:ext cx="1210397" cy="220450"/>
          </a:xfrm>
          <a:prstGeom prst="rect">
            <a:avLst/>
          </a:prstGeom>
          <a:noFill/>
          <a:ln/>
        </p:spPr>
        <p:txBody>
          <a:bodyPr wrap="none" lIns="0" tIns="0" rIns="0" bIns="0" rtlCol="0" anchor="t"/>
          <a:lstStyle/>
          <a:p>
            <a:pPr algn="ctr" indent="0" marL="0">
              <a:lnSpc>
                <a:spcPct val="104000"/>
              </a:lnSpc>
              <a:buNone/>
            </a:pPr>
            <a:r>
              <a:rPr lang="en-US" sz="1350" dirty="0">
                <a:solidFill>
                  <a:srgbClr val="F2F0F4"/>
                </a:solidFill>
                <a:latin typeface="Montserrat" pitchFamily="34" charset="0"/>
                <a:ea typeface="Montserrat" pitchFamily="34" charset="-122"/>
                <a:cs typeface="Montserrat" pitchFamily="34" charset="-120"/>
              </a:rPr>
              <a:t>Spring JDBC DAO</a:t>
            </a:r>
            <a:endParaRPr lang="en-US" sz="1350" dirty="0"/>
          </a:p>
        </p:txBody>
      </p:sp>
      <p:sp>
        <p:nvSpPr>
          <p:cNvPr id="7" name="Text 4"/>
          <p:cNvSpPr/>
          <p:nvPr/>
        </p:nvSpPr>
        <p:spPr>
          <a:xfrm>
            <a:off x="5549316" y="3792126"/>
            <a:ext cx="1210397" cy="330676"/>
          </a:xfrm>
          <a:prstGeom prst="rect">
            <a:avLst/>
          </a:prstGeom>
          <a:noFill/>
          <a:ln/>
        </p:spPr>
        <p:txBody>
          <a:bodyPr wrap="square" lIns="0" tIns="0" rIns="0" bIns="0" rtlCol="0" anchor="t">
            <a:normAutofit/>
          </a:bodyPr>
          <a:lstStyle/>
          <a:p>
            <a:pPr algn="ctr" indent="0" marL="0">
              <a:lnSpc>
                <a:spcPct val="98000"/>
              </a:lnSpc>
              <a:buNone/>
            </a:pPr>
            <a:r>
              <a:rPr lang="en-US" sz="1100" dirty="0">
                <a:solidFill>
                  <a:srgbClr val="DCD7E5"/>
                </a:solidFill>
                <a:latin typeface="Heebo Light" pitchFamily="34" charset="0"/>
                <a:ea typeface="Heebo Light" pitchFamily="34" charset="-122"/>
                <a:cs typeface="Heebo Light" pitchFamily="34" charset="-120"/>
              </a:rPr>
              <a:t>Executes fast parameterized queries</a:t>
            </a:r>
            <a:endParaRPr lang="en-US" sz="1100" dirty="0"/>
          </a:p>
        </p:txBody>
      </p:sp>
      <p:sp>
        <p:nvSpPr>
          <p:cNvPr id="8" name="Text 5"/>
          <p:cNvSpPr/>
          <p:nvPr/>
        </p:nvSpPr>
        <p:spPr>
          <a:xfrm>
            <a:off x="891193" y="1238449"/>
            <a:ext cx="1210397" cy="220451"/>
          </a:xfrm>
          <a:prstGeom prst="rect">
            <a:avLst/>
          </a:prstGeom>
          <a:noFill/>
          <a:ln/>
        </p:spPr>
        <p:txBody>
          <a:bodyPr wrap="none" lIns="0" tIns="0" rIns="0" bIns="0" rtlCol="0" anchor="t"/>
          <a:lstStyle/>
          <a:p>
            <a:pPr algn="ctr"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JSP / Leaflet View</a:t>
            </a:r>
            <a:endParaRPr lang="en-US" sz="1350" dirty="0"/>
          </a:p>
        </p:txBody>
      </p:sp>
      <p:sp>
        <p:nvSpPr>
          <p:cNvPr id="9" name="Text 6"/>
          <p:cNvSpPr/>
          <p:nvPr/>
        </p:nvSpPr>
        <p:spPr>
          <a:xfrm>
            <a:off x="891193" y="1521606"/>
            <a:ext cx="1210397" cy="330676"/>
          </a:xfrm>
          <a:prstGeom prst="rect">
            <a:avLst/>
          </a:prstGeom>
          <a:noFill/>
          <a:ln/>
        </p:spPr>
        <p:txBody>
          <a:bodyPr wrap="square" lIns="0" tIns="0" rIns="0" bIns="0" rtlCol="0" anchor="t">
            <a:normAutofit/>
          </a:bodyPr>
          <a:lstStyle/>
          <a:p>
            <a:pPr algn="ctr" indent="0" marL="0">
              <a:lnSpc>
                <a:spcPct val="98000"/>
              </a:lnSpc>
              <a:buNone/>
            </a:pPr>
            <a:r>
              <a:rPr lang="en-US" sz="1100" dirty="0">
                <a:solidFill>
                  <a:srgbClr val="DCD7E5"/>
                </a:solidFill>
                <a:latin typeface="Heebo Light" pitchFamily="34" charset="0"/>
                <a:ea typeface="Heebo Light" pitchFamily="34" charset="-122"/>
                <a:cs typeface="Heebo Light" pitchFamily="34" charset="-120"/>
              </a:rPr>
              <a:t>User interacts with tactical UI &amp; maps</a:t>
            </a:r>
            <a:endParaRPr lang="en-US" sz="1100" dirty="0"/>
          </a:p>
        </p:txBody>
      </p:sp>
      <p:sp>
        <p:nvSpPr>
          <p:cNvPr id="10" name="Text 7"/>
          <p:cNvSpPr/>
          <p:nvPr/>
        </p:nvSpPr>
        <p:spPr>
          <a:xfrm>
            <a:off x="7053279" y="1238449"/>
            <a:ext cx="1210397" cy="440901"/>
          </a:xfrm>
          <a:prstGeom prst="rect">
            <a:avLst/>
          </a:prstGeom>
          <a:noFill/>
          <a:ln/>
        </p:spPr>
        <p:txBody>
          <a:bodyPr wrap="square" lIns="0" tIns="0" rIns="0" bIns="0" rtlCol="0" anchor="t">
            <a:normAutofit/>
          </a:bodyPr>
          <a:lstStyle/>
          <a:p>
            <a:pPr algn="ctr"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MySQL Database</a:t>
            </a:r>
            <a:endParaRPr lang="en-US" sz="1350" dirty="0"/>
          </a:p>
        </p:txBody>
      </p:sp>
      <p:sp>
        <p:nvSpPr>
          <p:cNvPr id="11" name="Text 8"/>
          <p:cNvSpPr/>
          <p:nvPr/>
        </p:nvSpPr>
        <p:spPr>
          <a:xfrm>
            <a:off x="7053279" y="1742056"/>
            <a:ext cx="1210397" cy="330676"/>
          </a:xfrm>
          <a:prstGeom prst="rect">
            <a:avLst/>
          </a:prstGeom>
          <a:noFill/>
          <a:ln/>
        </p:spPr>
        <p:txBody>
          <a:bodyPr wrap="square" lIns="0" tIns="0" rIns="0" bIns="0" rtlCol="0" anchor="t">
            <a:normAutofit/>
          </a:bodyPr>
          <a:lstStyle/>
          <a:p>
            <a:pPr algn="ctr" indent="0" marL="0">
              <a:lnSpc>
                <a:spcPct val="98000"/>
              </a:lnSpc>
              <a:buNone/>
            </a:pPr>
            <a:r>
              <a:rPr lang="en-US" sz="1100" dirty="0">
                <a:solidFill>
                  <a:srgbClr val="DCD7E5"/>
                </a:solidFill>
                <a:latin typeface="Heebo Light" pitchFamily="34" charset="0"/>
                <a:ea typeface="Heebo Light" pitchFamily="34" charset="-122"/>
                <a:cs typeface="Heebo Light" pitchFamily="34" charset="-120"/>
              </a:rPr>
              <a:t>Persists inventory, batches, &amp; manifests</a:t>
            </a:r>
            <a:endParaRPr lang="en-US" sz="1100" dirty="0"/>
          </a:p>
        </p:txBody>
      </p:sp>
      <p:sp>
        <p:nvSpPr>
          <p:cNvPr id="12" name="Text 9"/>
          <p:cNvSpPr/>
          <p:nvPr/>
        </p:nvSpPr>
        <p:spPr>
          <a:xfrm>
            <a:off x="4014612" y="1238449"/>
            <a:ext cx="1210397" cy="220451"/>
          </a:xfrm>
          <a:prstGeom prst="rect">
            <a:avLst/>
          </a:prstGeom>
          <a:noFill/>
          <a:ln/>
        </p:spPr>
        <p:txBody>
          <a:bodyPr wrap="none" lIns="0" tIns="0" rIns="0" bIns="0" rtlCol="0" anchor="t"/>
          <a:lstStyle/>
          <a:p>
            <a:pPr algn="ctr" indent="0" marL="0">
              <a:lnSpc>
                <a:spcPct val="104000"/>
              </a:lnSpc>
              <a:buNone/>
            </a:pPr>
            <a:r>
              <a:rPr lang="en-US" sz="1350" dirty="0">
                <a:solidFill>
                  <a:srgbClr val="F2F0F4"/>
                </a:solidFill>
                <a:latin typeface="Montserrat" pitchFamily="34" charset="0"/>
                <a:ea typeface="Montserrat" pitchFamily="34" charset="-122"/>
                <a:cs typeface="Montserrat" pitchFamily="34" charset="-120"/>
              </a:rPr>
              <a:t>Service Layer</a:t>
            </a:r>
            <a:endParaRPr lang="en-US" sz="1350" dirty="0"/>
          </a:p>
        </p:txBody>
      </p:sp>
      <p:sp>
        <p:nvSpPr>
          <p:cNvPr id="13" name="Text 10"/>
          <p:cNvSpPr/>
          <p:nvPr/>
        </p:nvSpPr>
        <p:spPr>
          <a:xfrm>
            <a:off x="4014612" y="1521606"/>
            <a:ext cx="1210397" cy="496014"/>
          </a:xfrm>
          <a:prstGeom prst="rect">
            <a:avLst/>
          </a:prstGeom>
          <a:noFill/>
          <a:ln/>
        </p:spPr>
        <p:txBody>
          <a:bodyPr wrap="square" lIns="0" tIns="0" rIns="0" bIns="0" rtlCol="0" anchor="t">
            <a:normAutofit/>
          </a:bodyPr>
          <a:lstStyle/>
          <a:p>
            <a:pPr algn="ctr" indent="0" marL="0">
              <a:lnSpc>
                <a:spcPct val="98000"/>
              </a:lnSpc>
              <a:buNone/>
            </a:pPr>
            <a:r>
              <a:rPr lang="en-US" sz="1100" dirty="0">
                <a:solidFill>
                  <a:srgbClr val="DCD7E5"/>
                </a:solidFill>
                <a:latin typeface="Heebo Light" pitchFamily="34" charset="0"/>
                <a:ea typeface="Heebo Light" pitchFamily="34" charset="-122"/>
                <a:cs typeface="Heebo Light" pitchFamily="34" charset="-120"/>
              </a:rPr>
              <a:t>Matching, Demand, &amp; Transfer logic</a:t>
            </a:r>
            <a:endParaRPr lang="en-US" sz="1100" dirty="0"/>
          </a:p>
        </p:txBody>
      </p:sp>
      <p:sp>
        <p:nvSpPr>
          <p:cNvPr id="14" name="Text 11"/>
          <p:cNvSpPr/>
          <p:nvPr/>
        </p:nvSpPr>
        <p:spPr>
          <a:xfrm>
            <a:off x="496119" y="4563889"/>
            <a:ext cx="8608963" cy="186035"/>
          </a:xfrm>
          <a:prstGeom prst="rect">
            <a:avLst/>
          </a:prstGeom>
          <a:noFill/>
          <a:ln/>
        </p:spPr>
        <p:txBody>
          <a:bodyPr wrap="none" lIns="0" tIns="0" rIns="0" bIns="0" rtlCol="0" anchor="t"/>
          <a:lstStyle/>
          <a:p>
            <a:pPr algn="l" indent="0" marL="0">
              <a:lnSpc>
                <a:spcPct val="125000"/>
              </a:lnSpc>
              <a:buNone/>
            </a:pPr>
            <a:r>
              <a:rPr lang="en-US" sz="950" dirty="0">
                <a:solidFill>
                  <a:srgbClr val="DCD7E5"/>
                </a:solidFill>
                <a:latin typeface="Heebo Light" pitchFamily="34" charset="0"/>
                <a:ea typeface="Heebo Light" pitchFamily="34" charset="-122"/>
                <a:cs typeface="Heebo Light" pitchFamily="34" charset="-120"/>
              </a:rPr>
              <a:t>Architecture summary: Classic MVC — View (JSP/Leaflet) → Controllers → Services → DAOs (JDBC) → MySQL 8. Deployed on Tomcat 9.</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906735"/>
            <a:ext cx="8151763" cy="354360"/>
          </a:xfrm>
          <a:prstGeom prst="rect">
            <a:avLst/>
          </a:prstGeom>
          <a:noFill/>
          <a:ln/>
        </p:spPr>
        <p:txBody>
          <a:bodyPr wrap="none" lIns="0" tIns="0" rIns="0" bIns="0" rtlCol="0" anchor="t"/>
          <a:lstStyle/>
          <a:p>
            <a:pPr algn="l" indent="0" marL="0">
              <a:lnSpc>
                <a:spcPct val="104000"/>
              </a:lnSpc>
              <a:buNone/>
            </a:pPr>
            <a:r>
              <a:rPr lang="en-US" sz="2200" dirty="0">
                <a:solidFill>
                  <a:srgbClr val="F2F0F4"/>
                </a:solidFill>
                <a:latin typeface="Montserrat" pitchFamily="34" charset="0"/>
                <a:ea typeface="Montserrat" pitchFamily="34" charset="-122"/>
                <a:cs typeface="Montserrat" pitchFamily="34" charset="-120"/>
              </a:rPr>
              <a:t>Database Design (ER Model)</a:t>
            </a:r>
            <a:endParaRPr lang="en-US" sz="2200" dirty="0"/>
          </a:p>
        </p:txBody>
      </p:sp>
      <p:sp>
        <p:nvSpPr>
          <p:cNvPr id="3" name="Text 1"/>
          <p:cNvSpPr/>
          <p:nvPr/>
        </p:nvSpPr>
        <p:spPr>
          <a:xfrm>
            <a:off x="496119" y="1680418"/>
            <a:ext cx="3085430" cy="226814"/>
          </a:xfrm>
          <a:prstGeom prst="rect">
            <a:avLst/>
          </a:prstGeom>
          <a:noFill/>
          <a:ln/>
        </p:spPr>
        <p:txBody>
          <a:bodyPr wrap="none" lIns="0" tIns="0" rIns="0" bIns="0" rtlCol="0" anchor="t"/>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Entities: Facilities, Batches, Requests, Transfers</a:t>
            </a:r>
            <a:endParaRPr lang="en-US" sz="1100" dirty="0"/>
          </a:p>
        </p:txBody>
      </p:sp>
      <p:sp>
        <p:nvSpPr>
          <p:cNvPr id="4" name="Text 2"/>
          <p:cNvSpPr/>
          <p:nvPr/>
        </p:nvSpPr>
        <p:spPr>
          <a:xfrm>
            <a:off x="496119" y="2034778"/>
            <a:ext cx="2628230" cy="1686818"/>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DCD7E5"/>
                </a:solidFill>
                <a:latin typeface="Heebo Light" pitchFamily="34" charset="0"/>
                <a:ea typeface="Heebo Light" pitchFamily="34" charset="-122"/>
                <a:cs typeface="Heebo Light" pitchFamily="34" charset="-120"/>
              </a:rPr>
              <a:t>Facilities &amp; Users (facility_id PK, coords, reliability; user_id, role)</a:t>
            </a:r>
            <a:endParaRPr lang="en-US" sz="1100" dirty="0"/>
          </a:p>
          <a:p>
            <a:pPr algn="l" marL="223520" indent="-223520">
              <a:lnSpc>
                <a:spcPct val="133000"/>
              </a:lnSpc>
              <a:buSzPct val="100000"/>
              <a:buChar char="•"/>
            </a:pPr>
            <a:r>
              <a:rPr lang="en-US" sz="1100" dirty="0">
                <a:solidFill>
                  <a:srgbClr val="DCD7E5"/>
                </a:solidFill>
                <a:latin typeface="Heebo Light" pitchFamily="34" charset="0"/>
                <a:ea typeface="Heebo Light" pitchFamily="34" charset="-122"/>
                <a:cs typeface="Heebo Light" pitchFamily="34" charset="-120"/>
              </a:rPr>
              <a:t>Catalog &amp; Batches (medicine_id PK, cold_chain; batch_id PK, qty, expiry)</a:t>
            </a:r>
            <a:endParaRPr lang="en-US" sz="1100" dirty="0"/>
          </a:p>
          <a:p>
            <a:pPr algn="l" marL="223520" indent="-223520">
              <a:lnSpc>
                <a:spcPct val="133000"/>
              </a:lnSpc>
              <a:buSzPct val="100000"/>
              <a:buChar char="•"/>
            </a:pPr>
            <a:r>
              <a:rPr lang="en-US" sz="1100" dirty="0">
                <a:solidFill>
                  <a:srgbClr val="DCD7E5"/>
                </a:solidFill>
                <a:latin typeface="Heebo Light" pitchFamily="34" charset="0"/>
                <a:ea typeface="Heebo Light" pitchFamily="34" charset="-122"/>
                <a:cs typeface="Heebo Light" pitchFamily="34" charset="-120"/>
              </a:rPr>
              <a:t>Transactions &amp; Demand (trans_id PK, type, qty; 60-day consumption)</a:t>
            </a:r>
            <a:endParaRPr lang="en-US" sz="1100" dirty="0"/>
          </a:p>
          <a:p>
            <a:r>
              <a:rPr sz="1100">
                <a:solidFill>
                  <a:srgbClr val="DCD7E5"/>
                </a:solidFill>
                <a:latin typeface="Heebo Light"/>
              </a:rPr>
              <a:t>Emergency &amp; Transfers (request_id PK, urgency; transfer_id PK, status)</a:t>
            </a:r>
          </a:p>
        </p:txBody>
      </p:sp>
      <p:pic>
        <p:nvPicPr>
          <p:cNvPr id="5" name="Image 0" descr="preencoded.png">    </p:cNvPr>
          <p:cNvPicPr>
            <a:picLocks noChangeAspect="1"/>
          </p:cNvPicPr>
          <p:nvPr/>
        </p:nvPicPr>
        <p:blipFill>
          <a:blip r:embed="rId1"/>
          <a:stretch>
            <a:fillRect/>
          </a:stretch>
        </p:blipFill>
        <p:spPr>
          <a:xfrm>
            <a:off x="3474988" y="1633165"/>
            <a:ext cx="5177582" cy="2057772"/>
          </a:xfrm>
          <a:prstGeom prst="rect">
            <a:avLst/>
          </a:prstGeom>
        </p:spPr>
      </p:pic>
      <p:sp>
        <p:nvSpPr>
          <p:cNvPr id="6" name="Text 3"/>
          <p:cNvSpPr/>
          <p:nvPr/>
        </p:nvSpPr>
        <p:spPr>
          <a:xfrm>
            <a:off x="3854847" y="3023053"/>
            <a:ext cx="1136030" cy="142004"/>
          </a:xfrm>
          <a:prstGeom prst="rect">
            <a:avLst/>
          </a:prstGeom>
          <a:noFill/>
          <a:ln/>
        </p:spPr>
        <p:txBody>
          <a:bodyPr wrap="none" lIns="0" tIns="0" rIns="0" bIns="0" rtlCol="0" anchor="t"/>
          <a:lstStyle/>
          <a:p>
            <a:pPr algn="r" indent="0" marL="0">
              <a:lnSpc>
                <a:spcPct val="104000"/>
              </a:lnSpc>
              <a:buNone/>
            </a:pPr>
            <a:r>
              <a:rPr lang="en-US" sz="850" dirty="0">
                <a:solidFill>
                  <a:srgbClr val="F2F0F4"/>
                </a:solidFill>
                <a:latin typeface="Montserrat" pitchFamily="34" charset="0"/>
                <a:ea typeface="Montserrat" pitchFamily="34" charset="-122"/>
                <a:cs typeface="Montserrat" pitchFamily="34" charset="-120"/>
              </a:rPr>
              <a:t>Facilities &amp; Users</a:t>
            </a:r>
            <a:endParaRPr lang="en-US" sz="850" dirty="0"/>
          </a:p>
        </p:txBody>
      </p:sp>
      <p:sp>
        <p:nvSpPr>
          <p:cNvPr id="7" name="Text 4"/>
          <p:cNvSpPr/>
          <p:nvPr/>
        </p:nvSpPr>
        <p:spPr>
          <a:xfrm>
            <a:off x="3597347" y="3205449"/>
            <a:ext cx="1393530" cy="227206"/>
          </a:xfrm>
          <a:prstGeom prst="rect">
            <a:avLst/>
          </a:prstGeom>
          <a:noFill/>
          <a:ln/>
        </p:spPr>
        <p:txBody>
          <a:bodyPr wrap="square" lIns="0" tIns="0" rIns="0" bIns="0" rtlCol="0" anchor="t">
            <a:normAutofit/>
          </a:bodyPr>
          <a:lstStyle/>
          <a:p>
            <a:pPr algn="r" indent="0" marL="0">
              <a:lnSpc>
                <a:spcPct val="104000"/>
              </a:lnSpc>
              <a:buNone/>
            </a:pPr>
            <a:r>
              <a:rPr lang="en-US" sz="700" dirty="0">
                <a:solidFill>
                  <a:srgbClr val="DCD7E5"/>
                </a:solidFill>
                <a:latin typeface="Heebo Light" pitchFamily="34" charset="0"/>
                <a:ea typeface="Heebo Light" pitchFamily="34" charset="-122"/>
                <a:cs typeface="Heebo Light" pitchFamily="34" charset="-120"/>
              </a:rPr>
              <a:t>facility_id PK, lat/lon; user_id PK, role</a:t>
            </a:r>
            <a:endParaRPr lang="en-US" sz="700" dirty="0"/>
          </a:p>
        </p:txBody>
      </p:sp>
      <p:sp>
        <p:nvSpPr>
          <p:cNvPr id="8" name="Text 5"/>
          <p:cNvSpPr/>
          <p:nvPr/>
        </p:nvSpPr>
        <p:spPr>
          <a:xfrm>
            <a:off x="7171975" y="2683506"/>
            <a:ext cx="1136029" cy="142004"/>
          </a:xfrm>
          <a:prstGeom prst="rect">
            <a:avLst/>
          </a:prstGeom>
          <a:noFill/>
          <a:ln/>
        </p:spPr>
        <p:txBody>
          <a:bodyPr wrap="none" lIns="0" tIns="0" rIns="0" bIns="0" rtlCol="0" anchor="t"/>
          <a:lstStyle/>
          <a:p>
            <a:pPr algn="l" indent="0" marL="0">
              <a:lnSpc>
                <a:spcPct val="104000"/>
              </a:lnSpc>
              <a:buNone/>
            </a:pPr>
            <a:r>
              <a:rPr lang="en-US" sz="850" dirty="0">
                <a:solidFill>
                  <a:srgbClr val="F2F0F4"/>
                </a:solidFill>
                <a:latin typeface="Montserrat" pitchFamily="34" charset="0"/>
                <a:ea typeface="Montserrat" pitchFamily="34" charset="-122"/>
                <a:cs typeface="Montserrat" pitchFamily="34" charset="-120"/>
              </a:rPr>
              <a:t>Inventory Batches</a:t>
            </a:r>
            <a:endParaRPr lang="en-US" sz="850" dirty="0"/>
          </a:p>
        </p:txBody>
      </p:sp>
      <p:sp>
        <p:nvSpPr>
          <p:cNvPr id="9" name="Text 6"/>
          <p:cNvSpPr/>
          <p:nvPr/>
        </p:nvSpPr>
        <p:spPr>
          <a:xfrm>
            <a:off x="7171975" y="2865902"/>
            <a:ext cx="1358187" cy="113603"/>
          </a:xfrm>
          <a:prstGeom prst="rect">
            <a:avLst/>
          </a:prstGeom>
          <a:noFill/>
          <a:ln/>
        </p:spPr>
        <p:txBody>
          <a:bodyPr wrap="none" lIns="0" tIns="0" rIns="0" bIns="0" rtlCol="0" anchor="t"/>
          <a:lstStyle/>
          <a:p>
            <a:pPr algn="l" indent="0" marL="0">
              <a:lnSpc>
                <a:spcPct val="104000"/>
              </a:lnSpc>
              <a:buNone/>
            </a:pPr>
            <a:r>
              <a:rPr lang="en-US" sz="700" dirty="0">
                <a:solidFill>
                  <a:srgbClr val="DCD7E5"/>
                </a:solidFill>
                <a:latin typeface="Heebo Light" pitchFamily="34" charset="0"/>
                <a:ea typeface="Heebo Light" pitchFamily="34" charset="-122"/>
                <a:cs typeface="Heebo Light" pitchFamily="34" charset="-120"/>
              </a:rPr>
              <a:t>batch_id PK, facility_id FK, qty, expiry</a:t>
            </a:r>
            <a:endParaRPr lang="en-US" sz="700" dirty="0"/>
          </a:p>
        </p:txBody>
      </p:sp>
      <p:sp>
        <p:nvSpPr>
          <p:cNvPr id="10" name="Text 7"/>
          <p:cNvSpPr/>
          <p:nvPr/>
        </p:nvSpPr>
        <p:spPr>
          <a:xfrm>
            <a:off x="3854768" y="2265700"/>
            <a:ext cx="1136030" cy="142004"/>
          </a:xfrm>
          <a:prstGeom prst="rect">
            <a:avLst/>
          </a:prstGeom>
          <a:noFill/>
          <a:ln/>
        </p:spPr>
        <p:txBody>
          <a:bodyPr wrap="none" lIns="0" tIns="0" rIns="0" bIns="0" rtlCol="0" anchor="t"/>
          <a:lstStyle/>
          <a:p>
            <a:pPr algn="r" indent="0" marL="0">
              <a:lnSpc>
                <a:spcPct val="104000"/>
              </a:lnSpc>
              <a:buNone/>
            </a:pPr>
            <a:r>
              <a:rPr lang="en-US" sz="850" dirty="0">
                <a:solidFill>
                  <a:srgbClr val="F2F0F4"/>
                </a:solidFill>
                <a:latin typeface="Montserrat" pitchFamily="34" charset="0"/>
                <a:ea typeface="Montserrat" pitchFamily="34" charset="-122"/>
                <a:cs typeface="Montserrat" pitchFamily="34" charset="-120"/>
              </a:rPr>
              <a:t>Emergency Requests</a:t>
            </a:r>
            <a:endParaRPr lang="en-US" sz="850" dirty="0"/>
          </a:p>
        </p:txBody>
      </p:sp>
      <p:sp>
        <p:nvSpPr>
          <p:cNvPr id="11" name="Text 8"/>
          <p:cNvSpPr/>
          <p:nvPr/>
        </p:nvSpPr>
        <p:spPr>
          <a:xfrm>
            <a:off x="3597268" y="2448096"/>
            <a:ext cx="1393530" cy="227206"/>
          </a:xfrm>
          <a:prstGeom prst="rect">
            <a:avLst/>
          </a:prstGeom>
          <a:noFill/>
          <a:ln/>
        </p:spPr>
        <p:txBody>
          <a:bodyPr wrap="square" lIns="0" tIns="0" rIns="0" bIns="0" rtlCol="0" anchor="t">
            <a:normAutofit/>
          </a:bodyPr>
          <a:lstStyle/>
          <a:p>
            <a:pPr algn="r" indent="0" marL="0">
              <a:lnSpc>
                <a:spcPct val="104000"/>
              </a:lnSpc>
              <a:buNone/>
            </a:pPr>
            <a:r>
              <a:rPr lang="en-US" sz="700" dirty="0">
                <a:solidFill>
                  <a:srgbClr val="DCD7E5"/>
                </a:solidFill>
                <a:latin typeface="Heebo Light" pitchFamily="34" charset="0"/>
                <a:ea typeface="Heebo Light" pitchFamily="34" charset="-122"/>
                <a:cs typeface="Heebo Light" pitchFamily="34" charset="-120"/>
              </a:rPr>
              <a:t>request_id PK, urgency, ai_score, status</a:t>
            </a:r>
            <a:endParaRPr lang="en-US" sz="700" dirty="0"/>
          </a:p>
        </p:txBody>
      </p:sp>
      <p:sp>
        <p:nvSpPr>
          <p:cNvPr id="12" name="Text 9"/>
          <p:cNvSpPr/>
          <p:nvPr/>
        </p:nvSpPr>
        <p:spPr>
          <a:xfrm>
            <a:off x="7171975" y="1839058"/>
            <a:ext cx="1136029" cy="142004"/>
          </a:xfrm>
          <a:prstGeom prst="rect">
            <a:avLst/>
          </a:prstGeom>
          <a:noFill/>
          <a:ln/>
        </p:spPr>
        <p:txBody>
          <a:bodyPr wrap="none" lIns="0" tIns="0" rIns="0" bIns="0" rtlCol="0" anchor="t"/>
          <a:lstStyle/>
          <a:p>
            <a:pPr algn="l" indent="0" marL="0">
              <a:lnSpc>
                <a:spcPct val="104000"/>
              </a:lnSpc>
              <a:buNone/>
            </a:pPr>
            <a:r>
              <a:rPr lang="en-US" sz="850" dirty="0">
                <a:solidFill>
                  <a:srgbClr val="F2F0F4"/>
                </a:solidFill>
                <a:latin typeface="Montserrat" pitchFamily="34" charset="0"/>
                <a:ea typeface="Montserrat" pitchFamily="34" charset="-122"/>
                <a:cs typeface="Montserrat" pitchFamily="34" charset="-120"/>
              </a:rPr>
              <a:t>Relationships</a:t>
            </a:r>
            <a:endParaRPr lang="en-US" sz="850" dirty="0"/>
          </a:p>
        </p:txBody>
      </p:sp>
      <p:sp>
        <p:nvSpPr>
          <p:cNvPr id="13" name="Text 10"/>
          <p:cNvSpPr/>
          <p:nvPr/>
        </p:nvSpPr>
        <p:spPr>
          <a:xfrm>
            <a:off x="7171975" y="2021453"/>
            <a:ext cx="1358187" cy="227206"/>
          </a:xfrm>
          <a:prstGeom prst="rect">
            <a:avLst/>
          </a:prstGeom>
          <a:noFill/>
          <a:ln/>
        </p:spPr>
        <p:txBody>
          <a:bodyPr wrap="square" lIns="0" tIns="0" rIns="0" bIns="0" rtlCol="0" anchor="t">
            <a:normAutofit/>
          </a:bodyPr>
          <a:lstStyle/>
          <a:p>
            <a:pPr algn="l" indent="0" marL="0">
              <a:lnSpc>
                <a:spcPct val="104000"/>
              </a:lnSpc>
              <a:buNone/>
            </a:pPr>
            <a:r>
              <a:rPr lang="en-US" sz="700" dirty="0">
                <a:solidFill>
                  <a:srgbClr val="DCD7E5"/>
                </a:solidFill>
                <a:latin typeface="Heebo Light" pitchFamily="34" charset="0"/>
                <a:ea typeface="Heebo Light" pitchFamily="34" charset="-122"/>
                <a:cs typeface="Heebo Light" pitchFamily="34" charset="-120"/>
              </a:rPr>
              <a:t>Facilities 1→* Batches; Requests 1→* Transfers</a:t>
            </a:r>
            <a:endParaRPr lang="en-US" sz="700" dirty="0"/>
          </a:p>
        </p:txBody>
      </p:sp>
      <p:sp>
        <p:nvSpPr>
          <p:cNvPr id="14" name="Text 11"/>
          <p:cNvSpPr/>
          <p:nvPr/>
        </p:nvSpPr>
        <p:spPr>
          <a:xfrm>
            <a:off x="496119" y="4009876"/>
            <a:ext cx="8608963" cy="226814"/>
          </a:xfrm>
          <a:prstGeom prst="rect">
            <a:avLst/>
          </a:prstGeom>
          <a:noFill/>
          <a:ln/>
        </p:spPr>
        <p:txBody>
          <a:bodyPr wrap="none" lIns="0" tIns="0" rIns="0" bIns="0" rtlCol="0" anchor="t"/>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Relational Schema: 14 interconnected tables with foreign key constraints, audit logging, and transactional integrity.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403399"/>
            <a:ext cx="8151763" cy="199281"/>
          </a:xfrm>
          <a:prstGeom prst="rect">
            <a:avLst/>
          </a:prstGeom>
          <a:noFill/>
          <a:ln/>
        </p:spPr>
        <p:txBody>
          <a:bodyPr wrap="none" lIns="0" tIns="0" rIns="0" bIns="0" rtlCol="0" anchor="t"/>
          <a:lstStyle/>
          <a:p>
            <a:pPr algn="l" indent="0" marL="0">
              <a:lnSpc>
                <a:spcPct val="104000"/>
              </a:lnSpc>
              <a:buNone/>
            </a:pPr>
            <a:r>
              <a:rPr lang="en-US" sz="1250" dirty="0">
                <a:solidFill>
                  <a:srgbClr val="F2F0F4"/>
                </a:solidFill>
                <a:latin typeface="Montserrat" pitchFamily="34" charset="0"/>
                <a:ea typeface="Montserrat" pitchFamily="34" charset="-122"/>
                <a:cs typeface="Montserrat" pitchFamily="34" charset="-120"/>
              </a:rPr>
              <a:t>Implementation &amp; Operational Workflow</a:t>
            </a:r>
            <a:endParaRPr lang="en-US" sz="1250" dirty="0"/>
          </a:p>
        </p:txBody>
      </p:sp>
      <p:pic>
        <p:nvPicPr>
          <p:cNvPr id="3" name="Image 0" descr="preencoded.png">    </p:cNvPr>
          <p:cNvPicPr>
            <a:picLocks noChangeAspect="1"/>
          </p:cNvPicPr>
          <p:nvPr/>
        </p:nvPicPr>
        <p:blipFill>
          <a:blip r:embed="rId1"/>
          <a:stretch>
            <a:fillRect/>
          </a:stretch>
        </p:blipFill>
        <p:spPr>
          <a:xfrm>
            <a:off x="626641" y="708273"/>
            <a:ext cx="7890644" cy="2960936"/>
          </a:xfrm>
          <a:prstGeom prst="rect">
            <a:avLst/>
          </a:prstGeom>
        </p:spPr>
      </p:pic>
      <p:sp>
        <p:nvSpPr>
          <p:cNvPr id="4" name="Text 1"/>
          <p:cNvSpPr/>
          <p:nvPr/>
        </p:nvSpPr>
        <p:spPr>
          <a:xfrm>
            <a:off x="7002209" y="2819856"/>
            <a:ext cx="1190147" cy="458532"/>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DCD7E5"/>
                </a:solidFill>
                <a:latin typeface="Montserrat" pitchFamily="34" charset="0"/>
                <a:ea typeface="Montserrat" pitchFamily="34" charset="-122"/>
                <a:cs typeface="Montserrat" pitchFamily="34" charset="-120"/>
              </a:rPr>
              <a:t>5. Transfer Manifest</a:t>
            </a:r>
            <a:endParaRPr lang="en-US" sz="1400" dirty="0"/>
          </a:p>
        </p:txBody>
      </p:sp>
      <p:sp>
        <p:nvSpPr>
          <p:cNvPr id="5" name="Text 2"/>
          <p:cNvSpPr/>
          <p:nvPr/>
        </p:nvSpPr>
        <p:spPr>
          <a:xfrm>
            <a:off x="5502299" y="2705223"/>
            <a:ext cx="1190146" cy="687799"/>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DCD7E5"/>
                </a:solidFill>
                <a:latin typeface="Montserrat" pitchFamily="34" charset="0"/>
                <a:ea typeface="Montserrat" pitchFamily="34" charset="-122"/>
                <a:cs typeface="Montserrat" pitchFamily="34" charset="-120"/>
              </a:rPr>
              <a:t>4. AI Smart Match</a:t>
            </a:r>
            <a:endParaRPr lang="en-US" sz="1400" dirty="0"/>
          </a:p>
        </p:txBody>
      </p:sp>
      <p:sp>
        <p:nvSpPr>
          <p:cNvPr id="6" name="Text 3"/>
          <p:cNvSpPr/>
          <p:nvPr/>
        </p:nvSpPr>
        <p:spPr>
          <a:xfrm>
            <a:off x="4010540" y="2819856"/>
            <a:ext cx="1190146" cy="458532"/>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DCD7E5"/>
                </a:solidFill>
                <a:latin typeface="Montserrat" pitchFamily="34" charset="0"/>
                <a:ea typeface="Montserrat" pitchFamily="34" charset="-122"/>
                <a:cs typeface="Montserrat" pitchFamily="34" charset="-120"/>
              </a:rPr>
              <a:t>3. Emergency Need</a:t>
            </a:r>
            <a:endParaRPr lang="en-US" sz="1400" dirty="0"/>
          </a:p>
        </p:txBody>
      </p:sp>
      <p:sp>
        <p:nvSpPr>
          <p:cNvPr id="7" name="Text 4"/>
          <p:cNvSpPr/>
          <p:nvPr/>
        </p:nvSpPr>
        <p:spPr>
          <a:xfrm>
            <a:off x="2518781" y="2819856"/>
            <a:ext cx="1190146" cy="458532"/>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DCD7E5"/>
                </a:solidFill>
                <a:latin typeface="Montserrat" pitchFamily="34" charset="0"/>
                <a:ea typeface="Montserrat" pitchFamily="34" charset="-122"/>
                <a:cs typeface="Montserrat" pitchFamily="34" charset="-120"/>
              </a:rPr>
              <a:t>2. Stock Risk Alert</a:t>
            </a:r>
            <a:endParaRPr lang="en-US" sz="1400" dirty="0"/>
          </a:p>
        </p:txBody>
      </p:sp>
      <p:sp>
        <p:nvSpPr>
          <p:cNvPr id="8" name="Text 5"/>
          <p:cNvSpPr/>
          <p:nvPr/>
        </p:nvSpPr>
        <p:spPr>
          <a:xfrm>
            <a:off x="994415" y="2934489"/>
            <a:ext cx="1190146" cy="229266"/>
          </a:xfrm>
          <a:prstGeom prst="rect">
            <a:avLst/>
          </a:prstGeom>
          <a:noFill/>
          <a:ln/>
        </p:spPr>
        <p:txBody>
          <a:bodyPr wrap="none" lIns="0" tIns="0" rIns="0" bIns="0" rtlCol="0" anchor="t"/>
          <a:lstStyle/>
          <a:p>
            <a:pPr algn="ctr" indent="0" marL="0">
              <a:lnSpc>
                <a:spcPct val="104000"/>
              </a:lnSpc>
              <a:buNone/>
            </a:pPr>
            <a:r>
              <a:rPr lang="en-US" sz="1400" dirty="0">
                <a:solidFill>
                  <a:srgbClr val="DCD7E5"/>
                </a:solidFill>
                <a:latin typeface="Montserrat" pitchFamily="34" charset="0"/>
                <a:ea typeface="Montserrat" pitchFamily="34" charset="-122"/>
                <a:cs typeface="Montserrat" pitchFamily="34" charset="-120"/>
              </a:rPr>
              <a:t>1. Auth &amp; Access</a:t>
            </a:r>
            <a:endParaRPr lang="en-US" sz="1400" dirty="0"/>
          </a:p>
        </p:txBody>
      </p:sp>
      <p:sp>
        <p:nvSpPr>
          <p:cNvPr id="9" name="Text 6"/>
          <p:cNvSpPr/>
          <p:nvPr/>
        </p:nvSpPr>
        <p:spPr>
          <a:xfrm>
            <a:off x="496119" y="3703737"/>
            <a:ext cx="159469" cy="99640"/>
          </a:xfrm>
          <a:prstGeom prst="rect">
            <a:avLst/>
          </a:prstGeom>
          <a:noFill/>
          <a:ln/>
        </p:spPr>
        <p:txBody>
          <a:bodyPr wrap="none" lIns="0" tIns="0" rIns="0" bIns="0" rtlCol="0" anchor="ctr"/>
          <a:lstStyle/>
          <a:p>
            <a:pPr algn="l" indent="0" marL="0">
              <a:lnSpc>
                <a:spcPct val="100000"/>
              </a:lnSpc>
              <a:buNone/>
            </a:pPr>
            <a:r>
              <a:rPr lang="en-US" sz="600" dirty="0">
                <a:solidFill>
                  <a:srgbClr val="DCD7E5"/>
                </a:solidFill>
                <a:latin typeface="Montserrat Light" pitchFamily="34" charset="0"/>
                <a:ea typeface="Montserrat Light" pitchFamily="34" charset="-122"/>
                <a:cs typeface="Montserrat Light" pitchFamily="34" charset="-120"/>
              </a:rPr>
              <a:t>01</a:t>
            </a:r>
            <a:endParaRPr lang="en-US" sz="600" dirty="0"/>
          </a:p>
        </p:txBody>
      </p:sp>
      <p:sp>
        <p:nvSpPr>
          <p:cNvPr id="10" name="Shape 7"/>
          <p:cNvSpPr/>
          <p:nvPr/>
        </p:nvSpPr>
        <p:spPr>
          <a:xfrm>
            <a:off x="496119" y="3829645"/>
            <a:ext cx="4053483" cy="9525"/>
          </a:xfrm>
          <a:prstGeom prst="rect">
            <a:avLst/>
          </a:prstGeom>
          <a:solidFill>
            <a:srgbClr val="581CA0"/>
          </a:solidFill>
          <a:ln/>
        </p:spPr>
      </p:sp>
      <p:sp>
        <p:nvSpPr>
          <p:cNvPr id="11" name="Text 8"/>
          <p:cNvSpPr/>
          <p:nvPr/>
        </p:nvSpPr>
        <p:spPr>
          <a:xfrm>
            <a:off x="496119" y="3888507"/>
            <a:ext cx="4053483" cy="124644"/>
          </a:xfrm>
          <a:prstGeom prst="rect">
            <a:avLst/>
          </a:prstGeom>
          <a:noFill/>
          <a:ln/>
        </p:spPr>
        <p:txBody>
          <a:bodyPr wrap="none" lIns="0" tIns="0" rIns="0" bIns="0" rtlCol="0" anchor="t"/>
          <a:lstStyle/>
          <a:p>
            <a:pPr algn="l" indent="0" marL="0">
              <a:lnSpc>
                <a:spcPct val="104000"/>
              </a:lnSpc>
              <a:buNone/>
            </a:pPr>
            <a:r>
              <a:rPr lang="en-US" sz="750" dirty="0">
                <a:solidFill>
                  <a:srgbClr val="DCD7E5"/>
                </a:solidFill>
                <a:latin typeface="Montserrat" pitchFamily="34" charset="0"/>
                <a:ea typeface="Montserrat" pitchFamily="34" charset="-122"/>
                <a:cs typeface="Montserrat" pitchFamily="34" charset="-120"/>
              </a:rPr>
              <a:t>Demand &amp; Risk Engine</a:t>
            </a:r>
            <a:endParaRPr lang="en-US" sz="750" dirty="0"/>
          </a:p>
        </p:txBody>
      </p:sp>
      <p:sp>
        <p:nvSpPr>
          <p:cNvPr id="12" name="Text 9"/>
          <p:cNvSpPr/>
          <p:nvPr/>
        </p:nvSpPr>
        <p:spPr>
          <a:xfrm>
            <a:off x="496119" y="4040014"/>
            <a:ext cx="4053483" cy="99715"/>
          </a:xfrm>
          <a:prstGeom prst="rect">
            <a:avLst/>
          </a:prstGeom>
          <a:noFill/>
          <a:ln/>
        </p:spPr>
        <p:txBody>
          <a:bodyPr wrap="none" lIns="0" tIns="0" rIns="0" bIns="0" rtlCol="0" anchor="t"/>
          <a:lstStyle/>
          <a:p>
            <a:pPr algn="l" indent="0" marL="0">
              <a:lnSpc>
                <a:spcPct val="104000"/>
              </a:lnSpc>
              <a:buNone/>
            </a:pPr>
            <a:r>
              <a:rPr lang="en-US" sz="600" dirty="0">
                <a:solidFill>
                  <a:srgbClr val="DCD7E5"/>
                </a:solidFill>
                <a:latin typeface="Heebo Light" pitchFamily="34" charset="0"/>
                <a:ea typeface="Heebo Light" pitchFamily="34" charset="-122"/>
                <a:cs typeface="Heebo Light" pitchFamily="34" charset="-120"/>
              </a:rPr>
              <a:t>Calculates 30-day consumption trends, stock coverage, and priority scores.</a:t>
            </a:r>
            <a:endParaRPr lang="en-US" sz="600" dirty="0"/>
          </a:p>
        </p:txBody>
      </p:sp>
      <p:sp>
        <p:nvSpPr>
          <p:cNvPr id="13" name="Text 10"/>
          <p:cNvSpPr/>
          <p:nvPr/>
        </p:nvSpPr>
        <p:spPr>
          <a:xfrm>
            <a:off x="4594399" y="3703737"/>
            <a:ext cx="159469" cy="99640"/>
          </a:xfrm>
          <a:prstGeom prst="rect">
            <a:avLst/>
          </a:prstGeom>
          <a:noFill/>
          <a:ln/>
        </p:spPr>
        <p:txBody>
          <a:bodyPr wrap="none" lIns="0" tIns="0" rIns="0" bIns="0" rtlCol="0" anchor="ctr"/>
          <a:lstStyle/>
          <a:p>
            <a:pPr algn="l" indent="0" marL="0">
              <a:lnSpc>
                <a:spcPct val="100000"/>
              </a:lnSpc>
              <a:buNone/>
            </a:pPr>
            <a:r>
              <a:rPr lang="en-US" sz="600" dirty="0">
                <a:solidFill>
                  <a:srgbClr val="DCD7E5"/>
                </a:solidFill>
                <a:latin typeface="Montserrat Light" pitchFamily="34" charset="0"/>
                <a:ea typeface="Montserrat Light" pitchFamily="34" charset="-122"/>
                <a:cs typeface="Montserrat Light" pitchFamily="34" charset="-120"/>
              </a:rPr>
              <a:t>02</a:t>
            </a:r>
            <a:endParaRPr lang="en-US" sz="600" dirty="0"/>
          </a:p>
        </p:txBody>
      </p:sp>
      <p:sp>
        <p:nvSpPr>
          <p:cNvPr id="14" name="Shape 11"/>
          <p:cNvSpPr/>
          <p:nvPr/>
        </p:nvSpPr>
        <p:spPr>
          <a:xfrm>
            <a:off x="4594399" y="3829645"/>
            <a:ext cx="4053483" cy="9525"/>
          </a:xfrm>
          <a:prstGeom prst="rect">
            <a:avLst/>
          </a:prstGeom>
          <a:solidFill>
            <a:srgbClr val="581CA0"/>
          </a:solidFill>
          <a:ln/>
        </p:spPr>
      </p:sp>
      <p:sp>
        <p:nvSpPr>
          <p:cNvPr id="15" name="Text 12"/>
          <p:cNvSpPr/>
          <p:nvPr/>
        </p:nvSpPr>
        <p:spPr>
          <a:xfrm>
            <a:off x="4594399" y="3888507"/>
            <a:ext cx="4053483" cy="124644"/>
          </a:xfrm>
          <a:prstGeom prst="rect">
            <a:avLst/>
          </a:prstGeom>
          <a:noFill/>
          <a:ln/>
        </p:spPr>
        <p:txBody>
          <a:bodyPr wrap="none" lIns="0" tIns="0" rIns="0" bIns="0" rtlCol="0" anchor="t"/>
          <a:lstStyle/>
          <a:p>
            <a:pPr algn="l" indent="0" marL="0">
              <a:lnSpc>
                <a:spcPct val="104000"/>
              </a:lnSpc>
              <a:buNone/>
            </a:pPr>
            <a:r>
              <a:rPr lang="en-US" sz="750" dirty="0">
                <a:solidFill>
                  <a:srgbClr val="DCD7E5"/>
                </a:solidFill>
                <a:latin typeface="Montserrat" pitchFamily="34" charset="0"/>
                <a:ea typeface="Montserrat" pitchFamily="34" charset="-122"/>
                <a:cs typeface="Montserrat" pitchFamily="34" charset="-120"/>
              </a:rPr>
              <a:t>Smart Donor Matching</a:t>
            </a:r>
            <a:endParaRPr lang="en-US" sz="750" dirty="0"/>
          </a:p>
        </p:txBody>
      </p:sp>
      <p:sp>
        <p:nvSpPr>
          <p:cNvPr id="16" name="Text 13"/>
          <p:cNvSpPr/>
          <p:nvPr/>
        </p:nvSpPr>
        <p:spPr>
          <a:xfrm>
            <a:off x="4594399" y="4040014"/>
            <a:ext cx="4053483" cy="99715"/>
          </a:xfrm>
          <a:prstGeom prst="rect">
            <a:avLst/>
          </a:prstGeom>
          <a:noFill/>
          <a:ln/>
        </p:spPr>
        <p:txBody>
          <a:bodyPr wrap="none" lIns="0" tIns="0" rIns="0" bIns="0" rtlCol="0" anchor="t"/>
          <a:lstStyle/>
          <a:p>
            <a:pPr algn="l" indent="0" marL="0">
              <a:lnSpc>
                <a:spcPct val="104000"/>
              </a:lnSpc>
              <a:buNone/>
            </a:pPr>
            <a:r>
              <a:rPr lang="en-US" sz="600" dirty="0">
                <a:solidFill>
                  <a:srgbClr val="DCD7E5"/>
                </a:solidFill>
                <a:latin typeface="Heebo Light" pitchFamily="34" charset="0"/>
                <a:ea typeface="Heebo Light" pitchFamily="34" charset="-122"/>
                <a:cs typeface="Heebo Light" pitchFamily="34" charset="-120"/>
              </a:rPr>
              <a:t>Ranks donor facilities within 50 km based on surplus, distance, and reliability.</a:t>
            </a:r>
            <a:endParaRPr lang="en-US" sz="600" dirty="0"/>
          </a:p>
        </p:txBody>
      </p:sp>
      <p:sp>
        <p:nvSpPr>
          <p:cNvPr id="17" name="Text 14"/>
          <p:cNvSpPr/>
          <p:nvPr/>
        </p:nvSpPr>
        <p:spPr>
          <a:xfrm>
            <a:off x="496119" y="4244280"/>
            <a:ext cx="159469" cy="99640"/>
          </a:xfrm>
          <a:prstGeom prst="rect">
            <a:avLst/>
          </a:prstGeom>
          <a:noFill/>
          <a:ln/>
        </p:spPr>
        <p:txBody>
          <a:bodyPr wrap="none" lIns="0" tIns="0" rIns="0" bIns="0" rtlCol="0" anchor="ctr"/>
          <a:lstStyle/>
          <a:p>
            <a:pPr algn="l" indent="0" marL="0">
              <a:lnSpc>
                <a:spcPct val="100000"/>
              </a:lnSpc>
              <a:buNone/>
            </a:pPr>
            <a:r>
              <a:rPr lang="en-US" sz="600" dirty="0">
                <a:solidFill>
                  <a:srgbClr val="DCD7E5"/>
                </a:solidFill>
                <a:latin typeface="Montserrat Light" pitchFamily="34" charset="0"/>
                <a:ea typeface="Montserrat Light" pitchFamily="34" charset="-122"/>
                <a:cs typeface="Montserrat Light" pitchFamily="34" charset="-120"/>
              </a:rPr>
              <a:t>03</a:t>
            </a:r>
            <a:endParaRPr lang="en-US" sz="600" dirty="0"/>
          </a:p>
        </p:txBody>
      </p:sp>
      <p:sp>
        <p:nvSpPr>
          <p:cNvPr id="18" name="Shape 15"/>
          <p:cNvSpPr/>
          <p:nvPr/>
        </p:nvSpPr>
        <p:spPr>
          <a:xfrm>
            <a:off x="496119" y="4362227"/>
            <a:ext cx="4053483" cy="9525"/>
          </a:xfrm>
          <a:prstGeom prst="rect">
            <a:avLst/>
          </a:prstGeom>
          <a:solidFill>
            <a:srgbClr val="581CA0"/>
          </a:solidFill>
          <a:ln/>
        </p:spPr>
      </p:sp>
      <p:sp>
        <p:nvSpPr>
          <p:cNvPr id="19" name="Text 16"/>
          <p:cNvSpPr/>
          <p:nvPr/>
        </p:nvSpPr>
        <p:spPr>
          <a:xfrm>
            <a:off x="496119" y="4429051"/>
            <a:ext cx="4053483" cy="124644"/>
          </a:xfrm>
          <a:prstGeom prst="rect">
            <a:avLst/>
          </a:prstGeom>
          <a:noFill/>
          <a:ln/>
        </p:spPr>
        <p:txBody>
          <a:bodyPr wrap="none" lIns="0" tIns="0" rIns="0" bIns="0" rtlCol="0" anchor="t"/>
          <a:lstStyle/>
          <a:p>
            <a:pPr algn="l" indent="0" marL="0">
              <a:lnSpc>
                <a:spcPct val="104000"/>
              </a:lnSpc>
              <a:buNone/>
            </a:pPr>
            <a:r>
              <a:rPr lang="en-US" sz="750" dirty="0">
                <a:solidFill>
                  <a:srgbClr val="DCD7E5"/>
                </a:solidFill>
                <a:latin typeface="Montserrat" pitchFamily="34" charset="0"/>
                <a:ea typeface="Montserrat" pitchFamily="34" charset="-122"/>
                <a:cs typeface="Montserrat" pitchFamily="34" charset="-120"/>
              </a:rPr>
              <a:t>Transfer Manifest Lifecycle</a:t>
            </a:r>
            <a:endParaRPr lang="en-US" sz="750" dirty="0"/>
          </a:p>
        </p:txBody>
      </p:sp>
      <p:sp>
        <p:nvSpPr>
          <p:cNvPr id="20" name="Text 17"/>
          <p:cNvSpPr/>
          <p:nvPr/>
        </p:nvSpPr>
        <p:spPr>
          <a:xfrm>
            <a:off x="496119" y="4580558"/>
            <a:ext cx="4053483" cy="99715"/>
          </a:xfrm>
          <a:prstGeom prst="rect">
            <a:avLst/>
          </a:prstGeom>
          <a:noFill/>
          <a:ln/>
        </p:spPr>
        <p:txBody>
          <a:bodyPr wrap="none" lIns="0" tIns="0" rIns="0" bIns="0" rtlCol="0" anchor="t"/>
          <a:lstStyle/>
          <a:p>
            <a:pPr algn="l" indent="0" marL="0">
              <a:lnSpc>
                <a:spcPct val="104000"/>
              </a:lnSpc>
              <a:buNone/>
            </a:pPr>
            <a:r>
              <a:rPr lang="en-US" sz="600" dirty="0">
                <a:solidFill>
                  <a:srgbClr val="DCD7E5"/>
                </a:solidFill>
                <a:latin typeface="Heebo Light" pitchFamily="34" charset="0"/>
                <a:ea typeface="Heebo Light" pitchFamily="34" charset="-122"/>
                <a:cs typeface="Heebo Light" pitchFamily="34" charset="-120"/>
              </a:rPr>
              <a:t>Full 7-stage workflow: Requested → Accepted → In-Transit → Completed.</a:t>
            </a:r>
            <a:endParaRPr lang="en-US" sz="600" dirty="0"/>
          </a:p>
        </p:txBody>
      </p:sp>
      <p:sp>
        <p:nvSpPr>
          <p:cNvPr id="21" name="Text 18"/>
          <p:cNvSpPr/>
          <p:nvPr/>
        </p:nvSpPr>
        <p:spPr>
          <a:xfrm>
            <a:off x="4594399" y="4244280"/>
            <a:ext cx="159469" cy="99640"/>
          </a:xfrm>
          <a:prstGeom prst="rect">
            <a:avLst/>
          </a:prstGeom>
          <a:noFill/>
          <a:ln/>
        </p:spPr>
        <p:txBody>
          <a:bodyPr wrap="none" lIns="0" tIns="0" rIns="0" bIns="0" rtlCol="0" anchor="ctr"/>
          <a:lstStyle/>
          <a:p>
            <a:pPr algn="l" indent="0" marL="0">
              <a:lnSpc>
                <a:spcPct val="100000"/>
              </a:lnSpc>
              <a:buNone/>
            </a:pPr>
            <a:r>
              <a:rPr lang="en-US" sz="600" dirty="0">
                <a:solidFill>
                  <a:srgbClr val="DCD7E5"/>
                </a:solidFill>
                <a:latin typeface="Montserrat Light" pitchFamily="34" charset="0"/>
                <a:ea typeface="Montserrat Light" pitchFamily="34" charset="-122"/>
                <a:cs typeface="Montserrat Light" pitchFamily="34" charset="-120"/>
              </a:rPr>
              <a:t>04</a:t>
            </a:r>
            <a:endParaRPr lang="en-US" sz="600" dirty="0"/>
          </a:p>
        </p:txBody>
      </p:sp>
      <p:sp>
        <p:nvSpPr>
          <p:cNvPr id="22" name="Shape 19"/>
          <p:cNvSpPr/>
          <p:nvPr/>
        </p:nvSpPr>
        <p:spPr>
          <a:xfrm>
            <a:off x="4594399" y="4362227"/>
            <a:ext cx="4053483" cy="9525"/>
          </a:xfrm>
          <a:prstGeom prst="rect">
            <a:avLst/>
          </a:prstGeom>
          <a:solidFill>
            <a:srgbClr val="581CA0"/>
          </a:solidFill>
          <a:ln/>
        </p:spPr>
      </p:sp>
      <p:sp>
        <p:nvSpPr>
          <p:cNvPr id="23" name="Text 20"/>
          <p:cNvSpPr/>
          <p:nvPr/>
        </p:nvSpPr>
        <p:spPr>
          <a:xfrm>
            <a:off x="4594399" y="4429051"/>
            <a:ext cx="4053483" cy="124644"/>
          </a:xfrm>
          <a:prstGeom prst="rect">
            <a:avLst/>
          </a:prstGeom>
          <a:noFill/>
          <a:ln/>
        </p:spPr>
        <p:txBody>
          <a:bodyPr wrap="none" lIns="0" tIns="0" rIns="0" bIns="0" rtlCol="0" anchor="t"/>
          <a:lstStyle/>
          <a:p>
            <a:pPr algn="l" indent="0" marL="0">
              <a:lnSpc>
                <a:spcPct val="104000"/>
              </a:lnSpc>
              <a:buNone/>
            </a:pPr>
            <a:r>
              <a:rPr lang="en-US" sz="750" dirty="0">
                <a:solidFill>
                  <a:srgbClr val="DCD7E5"/>
                </a:solidFill>
                <a:latin typeface="Montserrat" pitchFamily="34" charset="0"/>
                <a:ea typeface="Montserrat" pitchFamily="34" charset="-122"/>
                <a:cs typeface="Montserrat" pitchFamily="34" charset="-120"/>
              </a:rPr>
              <a:t>Verification &amp; Testing</a:t>
            </a:r>
            <a:endParaRPr lang="en-US" sz="750" dirty="0"/>
          </a:p>
        </p:txBody>
      </p:sp>
      <p:sp>
        <p:nvSpPr>
          <p:cNvPr id="24" name="Text 21"/>
          <p:cNvSpPr/>
          <p:nvPr/>
        </p:nvSpPr>
        <p:spPr>
          <a:xfrm>
            <a:off x="4594399" y="4580558"/>
            <a:ext cx="4053483" cy="99715"/>
          </a:xfrm>
          <a:prstGeom prst="rect">
            <a:avLst/>
          </a:prstGeom>
          <a:noFill/>
          <a:ln/>
        </p:spPr>
        <p:txBody>
          <a:bodyPr wrap="none" lIns="0" tIns="0" rIns="0" bIns="0" rtlCol="0" anchor="t"/>
          <a:lstStyle/>
          <a:p>
            <a:pPr algn="l" indent="0" marL="0">
              <a:lnSpc>
                <a:spcPct val="104000"/>
              </a:lnSpc>
              <a:buNone/>
            </a:pPr>
            <a:r>
              <a:rPr lang="en-US" sz="600" dirty="0">
                <a:solidFill>
                  <a:srgbClr val="DCD7E5"/>
                </a:solidFill>
                <a:latin typeface="Heebo Light" pitchFamily="34" charset="0"/>
                <a:ea typeface="Heebo Light" pitchFamily="34" charset="-122"/>
                <a:cs typeface="Heebo Light" pitchFamily="34" charset="-120"/>
              </a:rPr>
              <a:t>120 automated unit tests passing; packaged WAR deployed on Apache Tomcat 9.</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92534"/>
            <a:ext cx="8151763" cy="204862"/>
          </a:xfrm>
          <a:prstGeom prst="rect">
            <a:avLst/>
          </a:prstGeom>
          <a:noFill/>
          <a:ln/>
        </p:spPr>
        <p:txBody>
          <a:bodyPr wrap="none" lIns="0" tIns="0" rIns="0" bIns="0" rtlCol="0" anchor="t"/>
          <a:lstStyle/>
          <a:p>
            <a:pPr algn="l" indent="0" marL="0">
              <a:lnSpc>
                <a:spcPct val="104000"/>
              </a:lnSpc>
              <a:buNone/>
            </a:pPr>
            <a:r>
              <a:rPr lang="en-US" sz="1250" dirty="0">
                <a:solidFill>
                  <a:srgbClr val="F2F0F4"/>
                </a:solidFill>
                <a:latin typeface="Montserrat" pitchFamily="34" charset="0"/>
                <a:ea typeface="Montserrat" pitchFamily="34" charset="-122"/>
                <a:cs typeface="Montserrat" pitchFamily="34" charset="-120"/>
              </a:rPr>
              <a:t>Advantages &amp; Future Scope</a:t>
            </a:r>
            <a:endParaRPr lang="en-US" sz="1250" dirty="0"/>
          </a:p>
        </p:txBody>
      </p:sp>
      <p:sp>
        <p:nvSpPr>
          <p:cNvPr id="3" name="Shape 1"/>
          <p:cNvSpPr/>
          <p:nvPr/>
        </p:nvSpPr>
        <p:spPr>
          <a:xfrm>
            <a:off x="496119" y="1715244"/>
            <a:ext cx="3975943" cy="461739"/>
          </a:xfrm>
          <a:prstGeom prst="roundRect">
            <a:avLst>
              <a:gd name="adj" fmla="val 7455"/>
            </a:avLst>
          </a:prstGeom>
          <a:solidFill>
            <a:srgbClr val="0D0A2C">
              <a:alpha val="95000"/>
            </a:srgbClr>
          </a:solidFill>
          <a:ln w="9525">
            <a:solidFill>
              <a:srgbClr val="4A2C85"/>
            </a:solidFill>
            <a:prstDash val="solid"/>
          </a:ln>
        </p:spPr>
      </p:sp>
      <p:sp>
        <p:nvSpPr>
          <p:cNvPr id="4" name="Text 2"/>
          <p:cNvSpPr/>
          <p:nvPr/>
        </p:nvSpPr>
        <p:spPr>
          <a:xfrm>
            <a:off x="587573" y="1806699"/>
            <a:ext cx="3793034" cy="128067"/>
          </a:xfrm>
          <a:prstGeom prst="rect">
            <a:avLst/>
          </a:prstGeom>
          <a:noFill/>
          <a:ln/>
        </p:spPr>
        <p:txBody>
          <a:bodyPr wrap="none" lIns="0" tIns="0" rIns="0" bIns="0" rtlCol="0" anchor="t"/>
          <a:lstStyle/>
          <a:p>
            <a:pPr algn="l" indent="0" marL="0">
              <a:lnSpc>
                <a:spcPct val="104000"/>
              </a:lnSpc>
              <a:buNone/>
            </a:pPr>
            <a:r>
              <a:rPr lang="en-US" sz="800" dirty="0">
                <a:solidFill>
                  <a:srgbClr val="DCD7E5"/>
                </a:solidFill>
                <a:latin typeface="Montserrat" pitchFamily="34" charset="0"/>
                <a:ea typeface="Montserrat" pitchFamily="34" charset="-122"/>
                <a:cs typeface="Montserrat" pitchFamily="34" charset="-120"/>
              </a:rPr>
              <a:t>Life-Saving Speed</a:t>
            </a:r>
            <a:endParaRPr lang="en-US" sz="800" dirty="0"/>
          </a:p>
        </p:txBody>
      </p:sp>
      <p:sp>
        <p:nvSpPr>
          <p:cNvPr id="5" name="Text 3"/>
          <p:cNvSpPr/>
          <p:nvPr/>
        </p:nvSpPr>
        <p:spPr>
          <a:xfrm>
            <a:off x="587573" y="1982093"/>
            <a:ext cx="3793034" cy="103436"/>
          </a:xfrm>
          <a:prstGeom prst="rect">
            <a:avLst/>
          </a:prstGeom>
          <a:noFill/>
          <a:ln/>
        </p:spPr>
        <p:txBody>
          <a:bodyPr wrap="none" lIns="0" tIns="0" rIns="0" bIns="0" rtlCol="0" anchor="t"/>
          <a:lstStyle/>
          <a:p>
            <a:pPr algn="l" indent="0" marL="0">
              <a:lnSpc>
                <a:spcPct val="105000"/>
              </a:lnSpc>
              <a:buNone/>
            </a:pPr>
            <a:r>
              <a:rPr lang="en-US" sz="600" dirty="0">
                <a:solidFill>
                  <a:srgbClr val="DCD7E5"/>
                </a:solidFill>
                <a:latin typeface="Heebo Light" pitchFamily="34" charset="0"/>
                <a:ea typeface="Heebo Light" pitchFamily="34" charset="-122"/>
                <a:cs typeface="Heebo Light" pitchFamily="34" charset="-120"/>
              </a:rPr>
              <a:t>Automated donor matching cuts emergency coordination from hours to seconds.</a:t>
            </a:r>
            <a:endParaRPr lang="en-US" sz="600" dirty="0"/>
          </a:p>
        </p:txBody>
      </p:sp>
      <p:sp>
        <p:nvSpPr>
          <p:cNvPr id="6" name="Shape 4"/>
          <p:cNvSpPr/>
          <p:nvPr/>
        </p:nvSpPr>
        <p:spPr>
          <a:xfrm>
            <a:off x="496119" y="2224311"/>
            <a:ext cx="3975943" cy="461739"/>
          </a:xfrm>
          <a:prstGeom prst="roundRect">
            <a:avLst>
              <a:gd name="adj" fmla="val 7455"/>
            </a:avLst>
          </a:prstGeom>
          <a:solidFill>
            <a:srgbClr val="0D0A2C">
              <a:alpha val="95000"/>
            </a:srgbClr>
          </a:solidFill>
          <a:ln w="9525">
            <a:solidFill>
              <a:srgbClr val="4A2C85"/>
            </a:solidFill>
            <a:prstDash val="solid"/>
          </a:ln>
        </p:spPr>
      </p:sp>
      <p:sp>
        <p:nvSpPr>
          <p:cNvPr id="7" name="Text 5"/>
          <p:cNvSpPr/>
          <p:nvPr/>
        </p:nvSpPr>
        <p:spPr>
          <a:xfrm>
            <a:off x="587573" y="2315766"/>
            <a:ext cx="3793034" cy="128067"/>
          </a:xfrm>
          <a:prstGeom prst="rect">
            <a:avLst/>
          </a:prstGeom>
          <a:noFill/>
          <a:ln/>
        </p:spPr>
        <p:txBody>
          <a:bodyPr wrap="none" lIns="0" tIns="0" rIns="0" bIns="0" rtlCol="0" anchor="t"/>
          <a:lstStyle/>
          <a:p>
            <a:pPr algn="l" indent="0" marL="0">
              <a:lnSpc>
                <a:spcPct val="104000"/>
              </a:lnSpc>
              <a:buNone/>
            </a:pPr>
            <a:r>
              <a:rPr lang="en-US" sz="800" dirty="0">
                <a:solidFill>
                  <a:srgbClr val="DCD7E5"/>
                </a:solidFill>
                <a:latin typeface="Montserrat" pitchFamily="34" charset="0"/>
                <a:ea typeface="Montserrat" pitchFamily="34" charset="-122"/>
                <a:cs typeface="Montserrat" pitchFamily="34" charset="-120"/>
              </a:rPr>
              <a:t>Zero Waste &amp; Expiry Prevention</a:t>
            </a:r>
            <a:endParaRPr lang="en-US" sz="800" dirty="0"/>
          </a:p>
        </p:txBody>
      </p:sp>
      <p:sp>
        <p:nvSpPr>
          <p:cNvPr id="8" name="Text 6"/>
          <p:cNvSpPr/>
          <p:nvPr/>
        </p:nvSpPr>
        <p:spPr>
          <a:xfrm>
            <a:off x="587573" y="2491160"/>
            <a:ext cx="3793034" cy="103436"/>
          </a:xfrm>
          <a:prstGeom prst="rect">
            <a:avLst/>
          </a:prstGeom>
          <a:noFill/>
          <a:ln/>
        </p:spPr>
        <p:txBody>
          <a:bodyPr wrap="none" lIns="0" tIns="0" rIns="0" bIns="0" rtlCol="0" anchor="t"/>
          <a:lstStyle/>
          <a:p>
            <a:pPr algn="l" indent="0" marL="0">
              <a:lnSpc>
                <a:spcPct val="105000"/>
              </a:lnSpc>
              <a:buNone/>
            </a:pPr>
            <a:r>
              <a:rPr lang="en-US" sz="600" dirty="0">
                <a:solidFill>
                  <a:srgbClr val="DCD7E5"/>
                </a:solidFill>
                <a:latin typeface="Heebo Light" pitchFamily="34" charset="0"/>
                <a:ea typeface="Heebo Light" pitchFamily="34" charset="-122"/>
                <a:cs typeface="Heebo Light" pitchFamily="34" charset="-120"/>
              </a:rPr>
              <a:t>Proactive FIFO redistribution routes near-expiry medicines to high-demand hubs.</a:t>
            </a:r>
            <a:endParaRPr lang="en-US" sz="600" dirty="0"/>
          </a:p>
        </p:txBody>
      </p:sp>
      <p:sp>
        <p:nvSpPr>
          <p:cNvPr id="9" name="Shape 7"/>
          <p:cNvSpPr/>
          <p:nvPr/>
        </p:nvSpPr>
        <p:spPr>
          <a:xfrm>
            <a:off x="496119" y="2733377"/>
            <a:ext cx="3975943" cy="461739"/>
          </a:xfrm>
          <a:prstGeom prst="roundRect">
            <a:avLst>
              <a:gd name="adj" fmla="val 7455"/>
            </a:avLst>
          </a:prstGeom>
          <a:solidFill>
            <a:srgbClr val="0D0A2C">
              <a:alpha val="95000"/>
            </a:srgbClr>
          </a:solidFill>
          <a:ln w="9525">
            <a:solidFill>
              <a:srgbClr val="4A2C85"/>
            </a:solidFill>
            <a:prstDash val="solid"/>
          </a:ln>
        </p:spPr>
      </p:sp>
      <p:sp>
        <p:nvSpPr>
          <p:cNvPr id="10" name="Text 8"/>
          <p:cNvSpPr/>
          <p:nvPr/>
        </p:nvSpPr>
        <p:spPr>
          <a:xfrm>
            <a:off x="587573" y="2824832"/>
            <a:ext cx="3793034" cy="128067"/>
          </a:xfrm>
          <a:prstGeom prst="rect">
            <a:avLst/>
          </a:prstGeom>
          <a:noFill/>
          <a:ln/>
        </p:spPr>
        <p:txBody>
          <a:bodyPr wrap="none" lIns="0" tIns="0" rIns="0" bIns="0" rtlCol="0" anchor="t"/>
          <a:lstStyle/>
          <a:p>
            <a:pPr algn="l" indent="0" marL="0">
              <a:lnSpc>
                <a:spcPct val="104000"/>
              </a:lnSpc>
              <a:buNone/>
            </a:pPr>
            <a:r>
              <a:rPr lang="en-US" sz="800" dirty="0">
                <a:solidFill>
                  <a:srgbClr val="DCD7E5"/>
                </a:solidFill>
                <a:latin typeface="Montserrat" pitchFamily="34" charset="0"/>
                <a:ea typeface="Montserrat" pitchFamily="34" charset="-122"/>
                <a:cs typeface="Montserrat" pitchFamily="34" charset="-120"/>
              </a:rPr>
              <a:t>Deterministic Intelligence</a:t>
            </a:r>
            <a:endParaRPr lang="en-US" sz="800" dirty="0"/>
          </a:p>
        </p:txBody>
      </p:sp>
      <p:sp>
        <p:nvSpPr>
          <p:cNvPr id="11" name="Text 9"/>
          <p:cNvSpPr/>
          <p:nvPr/>
        </p:nvSpPr>
        <p:spPr>
          <a:xfrm>
            <a:off x="587573" y="3000226"/>
            <a:ext cx="3793034" cy="103436"/>
          </a:xfrm>
          <a:prstGeom prst="rect">
            <a:avLst/>
          </a:prstGeom>
          <a:noFill/>
          <a:ln/>
        </p:spPr>
        <p:txBody>
          <a:bodyPr wrap="none" lIns="0" tIns="0" rIns="0" bIns="0" rtlCol="0" anchor="t"/>
          <a:lstStyle/>
          <a:p>
            <a:pPr algn="l" indent="0" marL="0">
              <a:lnSpc>
                <a:spcPct val="105000"/>
              </a:lnSpc>
              <a:buNone/>
            </a:pPr>
            <a:r>
              <a:rPr lang="en-US" sz="600" dirty="0">
                <a:solidFill>
                  <a:srgbClr val="DCD7E5"/>
                </a:solidFill>
                <a:latin typeface="Heebo Light" pitchFamily="34" charset="0"/>
                <a:ea typeface="Heebo Light" pitchFamily="34" charset="-122"/>
                <a:cs typeface="Heebo Light" pitchFamily="34" charset="-120"/>
              </a:rPr>
              <a:t>Mathematical scoring combined with Hugging Face AI insights preempts shortages.</a:t>
            </a:r>
            <a:endParaRPr lang="en-US" sz="600" dirty="0"/>
          </a:p>
        </p:txBody>
      </p:sp>
      <p:sp>
        <p:nvSpPr>
          <p:cNvPr id="12" name="Shape 10"/>
          <p:cNvSpPr/>
          <p:nvPr/>
        </p:nvSpPr>
        <p:spPr>
          <a:xfrm>
            <a:off x="496119" y="3242444"/>
            <a:ext cx="3975943" cy="461739"/>
          </a:xfrm>
          <a:prstGeom prst="roundRect">
            <a:avLst>
              <a:gd name="adj" fmla="val 7455"/>
            </a:avLst>
          </a:prstGeom>
          <a:solidFill>
            <a:srgbClr val="0D0A2C">
              <a:alpha val="95000"/>
            </a:srgbClr>
          </a:solidFill>
          <a:ln w="9525">
            <a:solidFill>
              <a:srgbClr val="4A2C85"/>
            </a:solidFill>
            <a:prstDash val="solid"/>
          </a:ln>
        </p:spPr>
      </p:sp>
      <p:sp>
        <p:nvSpPr>
          <p:cNvPr id="13" name="Text 11"/>
          <p:cNvSpPr/>
          <p:nvPr/>
        </p:nvSpPr>
        <p:spPr>
          <a:xfrm>
            <a:off x="587573" y="3333899"/>
            <a:ext cx="3793034" cy="128067"/>
          </a:xfrm>
          <a:prstGeom prst="rect">
            <a:avLst/>
          </a:prstGeom>
          <a:noFill/>
          <a:ln/>
        </p:spPr>
        <p:txBody>
          <a:bodyPr wrap="none" lIns="0" tIns="0" rIns="0" bIns="0" rtlCol="0" anchor="t"/>
          <a:lstStyle/>
          <a:p>
            <a:pPr algn="l" indent="0" marL="0">
              <a:lnSpc>
                <a:spcPct val="104000"/>
              </a:lnSpc>
              <a:buNone/>
            </a:pPr>
            <a:r>
              <a:rPr lang="en-US" sz="800" dirty="0">
                <a:solidFill>
                  <a:srgbClr val="DCD7E5"/>
                </a:solidFill>
                <a:latin typeface="Montserrat" pitchFamily="34" charset="0"/>
                <a:ea typeface="Montserrat" pitchFamily="34" charset="-122"/>
                <a:cs typeface="Montserrat" pitchFamily="34" charset="-120"/>
              </a:rPr>
              <a:t>Future Roadmap</a:t>
            </a:r>
            <a:endParaRPr lang="en-US" sz="800" dirty="0"/>
          </a:p>
        </p:txBody>
      </p:sp>
      <p:sp>
        <p:nvSpPr>
          <p:cNvPr id="14" name="Text 12"/>
          <p:cNvSpPr/>
          <p:nvPr/>
        </p:nvSpPr>
        <p:spPr>
          <a:xfrm>
            <a:off x="587573" y="3509293"/>
            <a:ext cx="3793034" cy="103436"/>
          </a:xfrm>
          <a:prstGeom prst="rect">
            <a:avLst/>
          </a:prstGeom>
          <a:noFill/>
          <a:ln/>
        </p:spPr>
        <p:txBody>
          <a:bodyPr wrap="none" lIns="0" tIns="0" rIns="0" bIns="0" rtlCol="0" anchor="t"/>
          <a:lstStyle/>
          <a:p>
            <a:pPr algn="l" indent="0" marL="0">
              <a:lnSpc>
                <a:spcPct val="105000"/>
              </a:lnSpc>
              <a:buNone/>
            </a:pPr>
            <a:r>
              <a:rPr lang="en-US" sz="600" dirty="0">
                <a:solidFill>
                  <a:srgbClr val="DCD7E5"/>
                </a:solidFill>
                <a:latin typeface="Heebo Light" pitchFamily="34" charset="0"/>
                <a:ea typeface="Heebo Light" pitchFamily="34" charset="-122"/>
                <a:cs typeface="Heebo Light" pitchFamily="34" charset="-120"/>
              </a:rPr>
              <a:t>IoT cold-chain telemetry, automated drone dispatch, and multi-region federation.</a:t>
            </a:r>
            <a:endParaRPr lang="en-US" sz="600" dirty="0"/>
          </a:p>
        </p:txBody>
      </p:sp>
      <p:pic>
        <p:nvPicPr>
          <p:cNvPr id="15" name="Image 0" descr="preencoded.png">    </p:cNvPr>
          <p:cNvPicPr>
            <a:picLocks noChangeAspect="1"/>
          </p:cNvPicPr>
          <p:nvPr/>
        </p:nvPicPr>
        <p:blipFill>
          <a:blip r:embed="rId1"/>
          <a:stretch>
            <a:fillRect/>
          </a:stretch>
        </p:blipFill>
        <p:spPr>
          <a:xfrm>
            <a:off x="4676701" y="721742"/>
            <a:ext cx="3975943" cy="397594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971699"/>
            <a:ext cx="4722763" cy="354360"/>
          </a:xfrm>
          <a:prstGeom prst="rect">
            <a:avLst/>
          </a:prstGeom>
          <a:noFill/>
          <a:ln/>
        </p:spPr>
        <p:txBody>
          <a:bodyPr wrap="none" lIns="0" tIns="0" rIns="0" bIns="0" rtlCol="0" anchor="t"/>
          <a:lstStyle/>
          <a:p>
            <a:pPr algn="l" indent="0" marL="0">
              <a:lnSpc>
                <a:spcPct val="104000"/>
              </a:lnSpc>
              <a:buNone/>
            </a:pPr>
            <a:r>
              <a:rPr lang="en-US" sz="2200" dirty="0">
                <a:solidFill>
                  <a:srgbClr val="F2F0F4"/>
                </a:solidFill>
                <a:latin typeface="Montserrat" pitchFamily="34" charset="0"/>
                <a:ea typeface="Montserrat" pitchFamily="34" charset="-122"/>
                <a:cs typeface="Montserrat" pitchFamily="34" charset="-120"/>
              </a:rPr>
              <a:t>Conclusion &amp; Thank You</a:t>
            </a:r>
            <a:endParaRPr lang="en-US" sz="2200" dirty="0"/>
          </a:p>
        </p:txBody>
      </p:sp>
      <p:sp>
        <p:nvSpPr>
          <p:cNvPr id="4" name="Text 1"/>
          <p:cNvSpPr/>
          <p:nvPr/>
        </p:nvSpPr>
        <p:spPr>
          <a:xfrm>
            <a:off x="3925119" y="1538660"/>
            <a:ext cx="4722763" cy="1520354"/>
          </a:xfrm>
          <a:prstGeom prst="rect">
            <a:avLst/>
          </a:prstGeom>
          <a:noFill/>
          <a:ln/>
        </p:spPr>
        <p:txBody>
          <a:bodyPr wrap="square" lIns="0" tIns="0" rIns="0" bIns="0" rtlCol="0" anchor="t">
            <a:normAutofit/>
          </a:bodyPr>
          <a:lstStyle/>
          <a:p>
            <a:pPr algn="l" indent="0" marL="0">
              <a:lnSpc>
                <a:spcPct val="133000"/>
              </a:lnSpc>
              <a:spcAft>
                <a:spcPts val="1250"/>
              </a:spcAft>
              <a:buNone/>
            </a:pPr>
            <a:r>
              <a:rPr lang="en-US" sz="1100" dirty="0">
                <a:solidFill>
                  <a:srgbClr val="DCD7E5"/>
                </a:solidFill>
                <a:latin typeface="Heebo Light" pitchFamily="34" charset="0"/>
                <a:ea typeface="Heebo Light" pitchFamily="34" charset="-122"/>
                <a:cs typeface="Heebo Light" pitchFamily="34" charset="-120"/>
              </a:rPr>
              <a:t>Summary: MedRoute AI bridges critical healthcare supply gaps using Java 17, Spring MVC, Spring JDBC, and MySQL. It delivers automated demand risk scoring, intelligent 50 km donor matching, and complete transfer manifest management.</a:t>
            </a:r>
            <a:endParaRPr lang="en-US" sz="1100" dirty="0"/>
          </a:p>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Key Highlights: 120/120 tests passing, 14 relational tables, live Leaflet tactical map, and production deployment on Apache Tomcat 9.</a:t>
            </a:r>
            <a:endParaRPr lang="en-US" sz="1100" dirty="0"/>
          </a:p>
        </p:txBody>
      </p:sp>
      <p:sp>
        <p:nvSpPr>
          <p:cNvPr id="5" name="Shape 2"/>
          <p:cNvSpPr/>
          <p:nvPr/>
        </p:nvSpPr>
        <p:spPr>
          <a:xfrm>
            <a:off x="3925119" y="3218483"/>
            <a:ext cx="4722763" cy="566961"/>
          </a:xfrm>
          <a:prstGeom prst="roundRect">
            <a:avLst>
              <a:gd name="adj" fmla="val 10502"/>
            </a:avLst>
          </a:prstGeom>
          <a:solidFill>
            <a:srgbClr val="31136C"/>
          </a:solidFill>
          <a:ln/>
        </p:spPr>
      </p:sp>
      <p:pic>
        <p:nvPicPr>
          <p:cNvPr id="6" name="Image 1" descr="preencoded.png">    </p:cNvPr>
          <p:cNvPicPr>
            <a:picLocks noChangeAspect="1"/>
          </p:cNvPicPr>
          <p:nvPr/>
        </p:nvPicPr>
        <p:blipFill>
          <a:blip r:embed="rId2"/>
          <a:stretch>
            <a:fillRect/>
          </a:stretch>
        </p:blipFill>
        <p:spPr>
          <a:xfrm>
            <a:off x="4066877" y="3419252"/>
            <a:ext cx="177180" cy="141759"/>
          </a:xfrm>
          <a:prstGeom prst="rect">
            <a:avLst/>
          </a:prstGeom>
        </p:spPr>
      </p:pic>
      <p:sp>
        <p:nvSpPr>
          <p:cNvPr id="7" name="Text 3"/>
          <p:cNvSpPr/>
          <p:nvPr/>
        </p:nvSpPr>
        <p:spPr>
          <a:xfrm>
            <a:off x="4385816" y="3395663"/>
            <a:ext cx="4577507" cy="226814"/>
          </a:xfrm>
          <a:prstGeom prst="rect">
            <a:avLst/>
          </a:prstGeom>
          <a:noFill/>
          <a:ln/>
        </p:spPr>
        <p:txBody>
          <a:bodyPr wrap="none" lIns="0" tIns="0" rIns="0" bIns="0" rtlCol="0" anchor="t"/>
          <a:lstStyle/>
          <a:p>
            <a:pPr algn="l" indent="0" marL="0">
              <a:lnSpc>
                <a:spcPct val="133000"/>
              </a:lnSpc>
              <a:buNone/>
            </a:pPr>
            <a:r>
              <a:rPr lang="en-US" sz="1100" dirty="0">
                <a:solidFill>
                  <a:srgbClr val="FFFFFF"/>
                </a:solidFill>
                <a:latin typeface="Heebo Light" pitchFamily="34" charset="0"/>
                <a:ea typeface="Heebo Light" pitchFamily="34" charset="-122"/>
                <a:cs typeface="Heebo Light" pitchFamily="34" charset="-120"/>
              </a:rPr>
              <a:t>Questions welcome — Live system demonstration ready.</a:t>
            </a:r>
            <a:endParaRPr lang="en-US" sz="1100" dirty="0"/>
          </a:p>
        </p:txBody>
      </p:sp>
      <p:sp>
        <p:nvSpPr>
          <p:cNvPr id="8" name="Text 4"/>
          <p:cNvSpPr/>
          <p:nvPr/>
        </p:nvSpPr>
        <p:spPr>
          <a:xfrm>
            <a:off x="3696519" y="3944913"/>
            <a:ext cx="5179963" cy="226814"/>
          </a:xfrm>
          <a:prstGeom prst="rect">
            <a:avLst/>
          </a:prstGeom>
          <a:noFill/>
          <a:ln/>
        </p:spPr>
        <p:txBody>
          <a:bodyPr wrap="none" lIns="0" tIns="0" rIns="0" bIns="0" rtlCol="0" anchor="t"/>
          <a:lstStyle/>
          <a:p>
            <a:pPr algn="ctr" indent="0" marL="0">
              <a:lnSpc>
                <a:spcPct val="133000"/>
              </a:lnSpc>
              <a:buNone/>
            </a:pPr>
            <a:r>
              <a:rPr lang="en-US" sz="1100" b="1" dirty="0">
                <a:solidFill>
                  <a:srgbClr val="DCD7E5"/>
                </a:solidFill>
                <a:latin typeface="Heebo Bold" pitchFamily="34" charset="0"/>
                <a:ea typeface="Heebo Bold" pitchFamily="34" charset="-122"/>
                <a:cs typeface="Heebo Bold" pitchFamily="34" charset="-120"/>
              </a:rPr>
              <a:t>Thank you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2026-08-06T20:41:49Z</dcterms:created>
  <dcterms:modified xsi:type="dcterms:W3CDTF">2026-08-06T20:41:49Z</dcterms:modified>
</cp:coreProperties>
</file>